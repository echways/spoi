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 w="12700">
            <a:solidFill>
              <a:srgbClr val="FFFC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01400" y="20116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360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355080"/>
            <a:ext cx="10927080" cy="0"/>
          </a:xfrm>
          <a:prstGeom prst="line">
            <a:avLst/>
          </a:prstGeom>
          <a:noFill/>
          <a:ln w="8255">
            <a:solidFill>
              <a:srgbClr val="D8D1C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4008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Факторный анализ и экспертная оценка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658368" y="116128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D58A2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сервисов доставки еды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685800" y="1783080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53606E"/>
                </a:solidFill>
              </a:rPr>
              <a:t>Практическая работа №3: опрос студентов, факторный анализ, согласованность экспертов и регрессия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443484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7A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77240" y="5001768"/>
            <a:ext cx="13716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4213D"/>
                </a:solidFill>
              </a:rPr>
              <a:t>респондентов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23160" y="4434840"/>
            <a:ext cx="1143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58A2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423160" y="5001768"/>
            <a:ext cx="11430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4213D"/>
                </a:solidFill>
              </a:rPr>
              <a:t>сервисов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749040" y="4434840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662A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749040" y="5001768"/>
            <a:ext cx="16002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4213D"/>
                </a:solidFill>
              </a:rPr>
              <a:t>смежных опроса</a:t>
            </a:r>
            <a:endParaRPr lang="en-US" sz="1150" dirty="0"/>
          </a:p>
        </p:txBody>
      </p:sp>
      <p:pic>
        <p:nvPicPr>
          <p:cNvPr id="14" name="Image 0" descr="/mnt/data/fresh_lab3/lab-3/assets/service_criteria_grouped_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33983"/>
            <a:ext cx="4892040" cy="2612794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355080" y="5330952"/>
            <a:ext cx="4617720" cy="658368"/>
          </a:xfrm>
          <a:prstGeom prst="roundRect">
            <a:avLst>
              <a:gd name="adj" fmla="val 13889"/>
            </a:avLst>
          </a:prstGeom>
          <a:solidFill>
            <a:srgbClr val="F4E5D6"/>
          </a:solidFill>
          <a:ln w="7620">
            <a:solidFill>
              <a:srgbClr val="E3D2BE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519672" y="5458968"/>
            <a:ext cx="42885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</a:rPr>
              <a:t>Главный сюжет: студенты различают сервисы статистически значимо, но единого «универсального» рейтинга нет - оценки зависят от привычек и бюджета.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 w="12700">
            <a:solidFill>
              <a:srgbClr val="FFFC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01400" y="20116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360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355080"/>
            <a:ext cx="10927080" cy="0"/>
          </a:xfrm>
          <a:prstGeom prst="line">
            <a:avLst/>
          </a:prstGeom>
          <a:noFill/>
          <a:ln w="8255">
            <a:solidFill>
              <a:srgbClr val="D8D1C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4572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Дизайн исследования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76656" y="98755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606E"/>
                </a:solidFill>
              </a:rPr>
              <a:t>Смежный опрос превратил простую оценку сервисов в анализ объектов и экспертов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14400" y="2057400"/>
            <a:ext cx="1280160" cy="320040"/>
          </a:xfrm>
          <a:prstGeom prst="roundRect">
            <a:avLst>
              <a:gd name="adj" fmla="val 22857"/>
            </a:avLst>
          </a:prstGeom>
          <a:solidFill>
            <a:srgbClr val="3662A5">
              <a:alpha val="97000"/>
            </a:srgbClr>
          </a:solidFill>
          <a:ln w="12700">
            <a:solidFill>
              <a:srgbClr val="3662A5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30552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Опрос 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6868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</a:rPr>
              <a:t>Базовая оценка сервисов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8680" y="2971800"/>
            <a:ext cx="2606040" cy="7498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3606E"/>
                </a:solidFill>
              </a:rPr>
              <a:t>Цена, скорость доставки и общее качество для каждого сервиса по шкале 1-10.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2907792"/>
            <a:ext cx="1051560" cy="0"/>
          </a:xfrm>
          <a:prstGeom prst="line">
            <a:avLst/>
          </a:prstGeom>
          <a:noFill/>
          <a:ln w="27940">
            <a:solidFill>
              <a:srgbClr val="D58A29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074920" y="2057400"/>
            <a:ext cx="1280160" cy="320040"/>
          </a:xfrm>
          <a:prstGeom prst="roundRect">
            <a:avLst>
              <a:gd name="adj" fmla="val 22857"/>
            </a:avLst>
          </a:prstGeom>
          <a:solidFill>
            <a:srgbClr val="0B7A75">
              <a:alpha val="97000"/>
            </a:srgbClr>
          </a:solidFill>
          <a:ln w="12700">
            <a:solidFill>
              <a:srgbClr val="0B7A75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66360" y="2130552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Опрос 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10912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</a:rPr>
              <a:t>Характеристики экспертов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010912" y="2971800"/>
            <a:ext cx="297180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3606E"/>
                </a:solidFill>
              </a:rPr>
              <a:t>Важность цены, скорости, промокодов, ассортимента, приложения, поддержки, точности времени, расходов и рекомендации.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83880" y="2907792"/>
            <a:ext cx="1051560" cy="0"/>
          </a:xfrm>
          <a:prstGeom prst="line">
            <a:avLst/>
          </a:prstGeom>
          <a:noFill/>
          <a:ln w="27940">
            <a:solidFill>
              <a:srgbClr val="D58A29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555480" y="2057400"/>
            <a:ext cx="1143000" cy="320040"/>
          </a:xfrm>
          <a:prstGeom prst="roundRect">
            <a:avLst>
              <a:gd name="adj" fmla="val 22857"/>
            </a:avLst>
          </a:prstGeom>
          <a:solidFill>
            <a:srgbClr val="D58A29">
              <a:alpha val="97000"/>
            </a:srgbClr>
          </a:solidFill>
          <a:ln w="12700">
            <a:solidFill>
              <a:srgbClr val="D58A2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46920" y="2130552"/>
            <a:ext cx="960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Итог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372600" y="25603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</a:rPr>
              <a:t>Единая аналитическая база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372600" y="2971800"/>
            <a:ext cx="228600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3606E"/>
                </a:solidFill>
              </a:rPr>
              <a:t>Факторный анализ объектов, факторный анализ экспертов, Фридман, конкордация, регрессия.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60120" y="4937760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7A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960120" y="5504688"/>
            <a:ext cx="1828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4213D"/>
                </a:solidFill>
              </a:rPr>
              <a:t>заполненных анкет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200400" y="4937760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7A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4414-4417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3200400" y="5504688"/>
            <a:ext cx="1828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4213D"/>
                </a:solidFill>
              </a:rPr>
              <a:t>фактический поток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0" y="493776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58A2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1-10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5486400" y="5504688"/>
            <a:ext cx="13716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4213D"/>
                </a:solidFill>
              </a:rPr>
              <a:t>единая шкала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406640" y="493776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662A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7406640" y="5504688"/>
            <a:ext cx="246888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4213D"/>
                </a:solidFill>
              </a:rPr>
              <a:t>пропусков в ключевых вопросах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 w="12700">
            <a:solidFill>
              <a:srgbClr val="FFFC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01400" y="20116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360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355080"/>
            <a:ext cx="10927080" cy="0"/>
          </a:xfrm>
          <a:prstGeom prst="line">
            <a:avLst/>
          </a:prstGeom>
          <a:noFill/>
          <a:ln w="8255">
            <a:solidFill>
              <a:srgbClr val="D8D1C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4572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Кто отвечал и как пользуется доставкой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76656" y="98755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606E"/>
                </a:solidFill>
              </a:rPr>
              <a:t>Выборка однородна по возрасту, но различается по частоте и расходам</a:t>
            </a:r>
            <a:endParaRPr lang="en-US" sz="1250" dirty="0"/>
          </a:p>
        </p:txBody>
      </p:sp>
      <p:pic>
        <p:nvPicPr>
          <p:cNvPr id="7" name="Image 0" descr="/mnt/data/fresh_lab3/lab-3/assets/usage_frequency_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30515"/>
            <a:ext cx="3520440" cy="1925955"/>
          </a:xfrm>
          <a:prstGeom prst="rect">
            <a:avLst/>
          </a:prstGeom>
        </p:spPr>
      </p:pic>
      <p:pic>
        <p:nvPicPr>
          <p:cNvPr id="8" name="Image 1" descr="/mnt/data/fresh_lab3/lab-3/assets/favorite_service_b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897552"/>
            <a:ext cx="3337560" cy="1791879"/>
          </a:xfrm>
          <a:prstGeom prst="rect">
            <a:avLst/>
          </a:prstGeom>
        </p:spPr>
      </p:pic>
      <p:pic>
        <p:nvPicPr>
          <p:cNvPr id="9" name="Image 2" descr="/mnt/data/fresh_lab3/lab-3/assets/monthly_spend_h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857111"/>
            <a:ext cx="3246120" cy="1872762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60120" y="4864608"/>
            <a:ext cx="10012680" cy="822960"/>
          </a:xfrm>
          <a:prstGeom prst="roundRect">
            <a:avLst>
              <a:gd name="adj" fmla="val 11111"/>
            </a:avLst>
          </a:prstGeom>
          <a:solidFill>
            <a:srgbClr val="E7F1EF"/>
          </a:solidFill>
          <a:ln w="7620">
            <a:solidFill>
              <a:srgbClr val="E3D2BE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0000"/>
              </a:srgbClr>
            </a:outerShdw>
          </a:effectLst>
        </p:spPr>
      </p:sp>
      <p:sp>
        <p:nvSpPr>
          <p:cNvPr id="11" name="Text 6"/>
          <p:cNvSpPr/>
          <p:nvPr/>
        </p:nvSpPr>
        <p:spPr>
          <a:xfrm>
            <a:off x="1124712" y="4992624"/>
            <a:ext cx="9683496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</a:rPr>
              <a:t>57 из 60 пользовались доставкой за последние 3 месяца. Это позволяет трактовать ответы как экспертные пользовательские оценки, а не как случайные предположения.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 w="12700">
            <a:solidFill>
              <a:srgbClr val="FFFC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01400" y="20116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360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355080"/>
            <a:ext cx="10927080" cy="0"/>
          </a:xfrm>
          <a:prstGeom prst="line">
            <a:avLst/>
          </a:prstGeom>
          <a:noFill/>
          <a:ln w="8255">
            <a:solidFill>
              <a:srgbClr val="D8D1C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4572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Оценки сервисов: лидерство не одномерно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76656" y="98755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606E"/>
                </a:solidFill>
              </a:rPr>
              <a:t>Самокат сильнее по скорости и среднему рангу, Яндекс Еда - по качеству, Ozon Fresh - по цене</a:t>
            </a:r>
            <a:endParaRPr lang="en-US" sz="1250" dirty="0"/>
          </a:p>
        </p:txBody>
      </p:sp>
      <p:pic>
        <p:nvPicPr>
          <p:cNvPr id="7" name="Image 0" descr="/mnt/data/fresh_lab3/lab-3/assets/service_criteria_grouped_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79975"/>
            <a:ext cx="5715000" cy="3052330"/>
          </a:xfrm>
          <a:prstGeom prst="rect">
            <a:avLst/>
          </a:prstGeom>
        </p:spPr>
      </p:pic>
      <p:pic>
        <p:nvPicPr>
          <p:cNvPr id="8" name="Image 1" descr="/mnt/data/fresh_lab3/lab-3/assets/service_criteria_hea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856232"/>
            <a:ext cx="4800600" cy="268833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965960" y="5623560"/>
            <a:ext cx="7955280" cy="594360"/>
          </a:xfrm>
          <a:prstGeom prst="roundRect">
            <a:avLst>
              <a:gd name="adj" fmla="val 15385"/>
            </a:avLst>
          </a:prstGeom>
          <a:solidFill>
            <a:srgbClr val="F4E5D6"/>
          </a:solidFill>
          <a:ln w="7620">
            <a:solidFill>
              <a:srgbClr val="E3D2BE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2130552" y="5751576"/>
            <a:ext cx="7626096" cy="3931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</a:rPr>
              <a:t>Итоговый рейтинг полезен как первое приближение, но он скрывает разные профили сервисов: скорость, цена и качество дают разные «победы».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 w="12700">
            <a:solidFill>
              <a:srgbClr val="FFFC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01400" y="20116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360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355080"/>
            <a:ext cx="10927080" cy="0"/>
          </a:xfrm>
          <a:prstGeom prst="line">
            <a:avLst/>
          </a:prstGeom>
          <a:noFill/>
          <a:ln w="8255">
            <a:solidFill>
              <a:srgbClr val="D8D1C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4572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Факторный анализ объектов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76656" y="98755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606E"/>
                </a:solidFill>
              </a:rPr>
              <a:t>Метод главных компонент использован как практический вариант факторного анализа</a:t>
            </a:r>
            <a:endParaRPr lang="en-US" sz="1250" dirty="0"/>
          </a:p>
        </p:txBody>
      </p:sp>
      <p:pic>
        <p:nvPicPr>
          <p:cNvPr id="7" name="Image 0" descr="/mnt/data/fresh_lab3/lab-3/assets/object_factor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09255"/>
            <a:ext cx="5349240" cy="43766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0" y="14173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D58A29"/>
                </a:solidFill>
              </a:rPr>
              <a:t>2 фактора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6400800" y="1883664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</a:rPr>
              <a:t>объясняют 50,4% дисперсии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400800" y="2377440"/>
            <a:ext cx="4389120" cy="0"/>
          </a:xfrm>
          <a:prstGeom prst="line">
            <a:avLst/>
          </a:prstGeom>
          <a:noFill/>
          <a:ln w="12700">
            <a:solidFill>
              <a:srgbClr val="D8D1C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0" y="26974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7A75"/>
                </a:solidFill>
              </a:rPr>
              <a:t>F1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949440" y="2697480"/>
            <a:ext cx="3886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53606E"/>
                </a:solidFill>
              </a:rPr>
              <a:t>положительно связан с восприятием Самоката и Ozon Fresh.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00800" y="34290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58A29"/>
                </a:solidFill>
              </a:rPr>
              <a:t>F2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949440" y="3429000"/>
            <a:ext cx="3886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53606E"/>
                </a:solidFill>
              </a:rPr>
              <a:t>разделяет Купер/Delivery Club и Яндекс Еду.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0" y="4572000"/>
            <a:ext cx="4434840" cy="685800"/>
          </a:xfrm>
          <a:prstGeom prst="roundRect">
            <a:avLst>
              <a:gd name="adj" fmla="val 13333"/>
            </a:avLst>
          </a:prstGeom>
          <a:solidFill>
            <a:srgbClr val="E7F1EF"/>
          </a:solidFill>
          <a:ln w="7620">
            <a:solidFill>
              <a:srgbClr val="E3D2BE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565392" y="4700016"/>
            <a:ext cx="4105656" cy="4846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</a:rPr>
              <a:t>Вывод: сервисы нельзя описать одной линейкой «лучше-хуже». Факторная карта дополняет средние оценки.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 w="12700">
            <a:solidFill>
              <a:srgbClr val="FFFC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01400" y="20116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360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355080"/>
            <a:ext cx="10927080" cy="0"/>
          </a:xfrm>
          <a:prstGeom prst="line">
            <a:avLst/>
          </a:prstGeom>
          <a:noFill/>
          <a:ln w="8255">
            <a:solidFill>
              <a:srgbClr val="D8D1C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4572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Факторный анализ характеристик экспертов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76656" y="98755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606E"/>
                </a:solidFill>
              </a:rPr>
              <a:t>Главный скрытый признак - вовлеченность в доставку</a:t>
            </a:r>
            <a:endParaRPr lang="en-US" sz="1250" dirty="0"/>
          </a:p>
        </p:txBody>
      </p:sp>
      <p:pic>
        <p:nvPicPr>
          <p:cNvPr id="7" name="Image 0" descr="/mnt/data/fresh_lab3/lab-3/assets/expert_factor_loadings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6172"/>
            <a:ext cx="5943600" cy="4572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903720" y="132588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</a:rPr>
              <a:t>4 фактора объясняют 64,8% дисперсии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903720" y="20574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7A75"/>
                </a:solidFill>
              </a:rPr>
              <a:t>F1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452360" y="2057400"/>
            <a:ext cx="384048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53606E"/>
                </a:solidFill>
              </a:rPr>
              <a:t>Вовлеченность: частота, расходы, недавний опыт и рекомендация</a:t>
            </a:r>
            <a:endParaRPr lang="en-US" sz="1360" dirty="0"/>
          </a:p>
        </p:txBody>
      </p:sp>
      <p:sp>
        <p:nvSpPr>
          <p:cNvPr id="11" name="Text 8"/>
          <p:cNvSpPr/>
          <p:nvPr/>
        </p:nvSpPr>
        <p:spPr>
          <a:xfrm>
            <a:off x="6903720" y="28620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662A5"/>
                </a:solidFill>
              </a:rPr>
              <a:t>F2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452360" y="2862072"/>
            <a:ext cx="384048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53606E"/>
                </a:solidFill>
              </a:rPr>
              <a:t>Ожидания к скорости и ассортименту</a:t>
            </a:r>
            <a:endParaRPr lang="en-US" sz="1360" dirty="0"/>
          </a:p>
        </p:txBody>
      </p:sp>
      <p:sp>
        <p:nvSpPr>
          <p:cNvPr id="13" name="Text 10"/>
          <p:cNvSpPr/>
          <p:nvPr/>
        </p:nvSpPr>
        <p:spPr>
          <a:xfrm>
            <a:off x="6903720" y="36667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58A29"/>
                </a:solidFill>
              </a:rPr>
              <a:t>F3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452360" y="3666744"/>
            <a:ext cx="384048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53606E"/>
                </a:solidFill>
              </a:rPr>
              <a:t>Ценовая и интерфейсная требовательность</a:t>
            </a:r>
            <a:endParaRPr lang="en-US" sz="1360" dirty="0"/>
          </a:p>
        </p:txBody>
      </p:sp>
      <p:sp>
        <p:nvSpPr>
          <p:cNvPr id="15" name="Text 12"/>
          <p:cNvSpPr/>
          <p:nvPr/>
        </p:nvSpPr>
        <p:spPr>
          <a:xfrm>
            <a:off x="6903720" y="447141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9413C"/>
                </a:solidFill>
              </a:rPr>
              <a:t>F4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7452360" y="4471416"/>
            <a:ext cx="384048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53606E"/>
                </a:solidFill>
              </a:rPr>
              <a:t>Операционная надежность: точность времени и поддержка</a:t>
            </a:r>
            <a:endParaRPr lang="en-US" sz="1360" dirty="0"/>
          </a:p>
        </p:txBody>
      </p:sp>
      <p:sp>
        <p:nvSpPr>
          <p:cNvPr id="17" name="Shape 14"/>
          <p:cNvSpPr/>
          <p:nvPr/>
        </p:nvSpPr>
        <p:spPr>
          <a:xfrm>
            <a:off x="6903720" y="5532120"/>
            <a:ext cx="4023360" cy="640080"/>
          </a:xfrm>
          <a:prstGeom prst="roundRect">
            <a:avLst>
              <a:gd name="adj" fmla="val 14286"/>
            </a:avLst>
          </a:prstGeom>
          <a:solidFill>
            <a:srgbClr val="F4E5D6"/>
          </a:solidFill>
          <a:ln w="7620">
            <a:solidFill>
              <a:srgbClr val="E3D2BE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068312" y="5660136"/>
            <a:ext cx="3694176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</a:rPr>
              <a:t>Именно различия между экспертами объясняют, почему согласованность есть статистически, но не является высокой.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 w="12700">
            <a:solidFill>
              <a:srgbClr val="FFFC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01400" y="20116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360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355080"/>
            <a:ext cx="10927080" cy="0"/>
          </a:xfrm>
          <a:prstGeom prst="line">
            <a:avLst/>
          </a:prstGeom>
          <a:noFill/>
          <a:ln w="8255">
            <a:solidFill>
              <a:srgbClr val="D8D1C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4572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Согласованность экспертов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76656" y="98755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606E"/>
                </a:solidFill>
              </a:rPr>
              <a:t>Критерий Фридмана подтверждает различия, но W показывает невысокое единодушие</a:t>
            </a:r>
            <a:endParaRPr lang="en-US" sz="1250" dirty="0"/>
          </a:p>
        </p:txBody>
      </p:sp>
      <p:pic>
        <p:nvPicPr>
          <p:cNvPr id="7" name="Image 0" descr="/mnt/data/fresh_lab3/lab-3/assets/mean_ranks_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66398"/>
            <a:ext cx="5486400" cy="31880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92240" y="1417320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58A2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χ² = 33,11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492240" y="1984248"/>
            <a:ext cx="36576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4213D"/>
                </a:solidFill>
              </a:rPr>
              <a:t>p &lt; 0,001: различия между сервисами статистически значимы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92240" y="3063240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7A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 = 0,138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6492240" y="3630168"/>
            <a:ext cx="36576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4213D"/>
                </a:solidFill>
              </a:rPr>
              <a:t>согласованность экспертов низкая, но ненулевая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92240" y="5074920"/>
            <a:ext cx="4343400" cy="749808"/>
          </a:xfrm>
          <a:prstGeom prst="roundRect">
            <a:avLst>
              <a:gd name="adj" fmla="val 12195"/>
            </a:avLst>
          </a:prstGeom>
          <a:solidFill>
            <a:srgbClr val="E7F1EF"/>
          </a:solidFill>
          <a:ln w="7620">
            <a:solidFill>
              <a:srgbClr val="E3D2BE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656832" y="5202936"/>
            <a:ext cx="4014216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</a:rPr>
              <a:t>Удаление 3 формально сомнительных анкет почти не меняет порядок сервисов и снижает W только до 0,132. Значит, итоговый рейтинг устойчив.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 w="12700">
            <a:solidFill>
              <a:srgbClr val="FFFC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01400" y="20116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360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355080"/>
            <a:ext cx="10927080" cy="0"/>
          </a:xfrm>
          <a:prstGeom prst="line">
            <a:avLst/>
          </a:prstGeom>
          <a:noFill/>
          <a:ln w="8255">
            <a:solidFill>
              <a:srgbClr val="D8D1C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4572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Регрессия: что связано с готовностью рекомендовать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76656" y="98755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606E"/>
                </a:solidFill>
              </a:rPr>
              <a:t>Модель объясняет рекомендацию через поведение и важность факторов выбора</a:t>
            </a:r>
            <a:endParaRPr lang="en-US" sz="1250" dirty="0"/>
          </a:p>
        </p:txBody>
      </p:sp>
      <p:pic>
        <p:nvPicPr>
          <p:cNvPr id="7" name="Image 0" descr="/mnt/data/fresh_lab3/lab-3/assets/regression_actual_vs_predi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598" y="1508760"/>
            <a:ext cx="4826203" cy="41605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0" y="1325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D58A29"/>
                </a:solidFill>
              </a:rPr>
              <a:t>R² = 0,636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6400800" y="1810512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3606E"/>
                </a:solidFill>
              </a:rPr>
              <a:t>скорректированный R² = 0,562; модель в целом значима, p &lt; 0,001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446520" y="2578608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7A75"/>
                </a:solidFill>
              </a:rPr>
              <a:t>+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903720" y="257860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</a:rPr>
              <a:t>Расходы на доставку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903720" y="2834640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53606E"/>
                </a:solidFill>
              </a:rPr>
              <a:t>активные пользователи чаще готовы рекомендовать</a:t>
            </a:r>
            <a:endParaRPr lang="en-US" sz="1130" dirty="0"/>
          </a:p>
        </p:txBody>
      </p:sp>
      <p:sp>
        <p:nvSpPr>
          <p:cNvPr id="13" name="Text 10"/>
          <p:cNvSpPr/>
          <p:nvPr/>
        </p:nvSpPr>
        <p:spPr>
          <a:xfrm>
            <a:off x="6446520" y="3328416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7A75"/>
                </a:solidFill>
              </a:rPr>
              <a:t>+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903720" y="332841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</a:rPr>
              <a:t>Сравнение цен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903720" y="3584448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53606E"/>
                </a:solidFill>
              </a:rPr>
              <a:t>поиск выгодных вариантов связан с более высокой рекомендацией</a:t>
            </a:r>
            <a:endParaRPr lang="en-US" sz="1130" dirty="0"/>
          </a:p>
        </p:txBody>
      </p:sp>
      <p:sp>
        <p:nvSpPr>
          <p:cNvPr id="16" name="Text 13"/>
          <p:cNvSpPr/>
          <p:nvPr/>
        </p:nvSpPr>
        <p:spPr>
          <a:xfrm>
            <a:off x="6446520" y="4078224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9413C"/>
                </a:solidFill>
              </a:rPr>
              <a:t>-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903720" y="407822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</a:rPr>
              <a:t>Важность цены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903720" y="4334256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53606E"/>
                </a:solidFill>
              </a:rPr>
              <a:t>сильная чувствительность к цене делает рекомендацию осторожнее</a:t>
            </a:r>
            <a:endParaRPr lang="en-US" sz="1130" dirty="0"/>
          </a:p>
        </p:txBody>
      </p:sp>
      <p:sp>
        <p:nvSpPr>
          <p:cNvPr id="19" name="Shape 16"/>
          <p:cNvSpPr/>
          <p:nvPr/>
        </p:nvSpPr>
        <p:spPr>
          <a:xfrm>
            <a:off x="6446520" y="5349240"/>
            <a:ext cx="4434840" cy="640080"/>
          </a:xfrm>
          <a:prstGeom prst="roundRect">
            <a:avLst>
              <a:gd name="adj" fmla="val 14286"/>
            </a:avLst>
          </a:prstGeom>
          <a:solidFill>
            <a:srgbClr val="F4E5D6"/>
          </a:solidFill>
          <a:ln w="7620">
            <a:solidFill>
              <a:srgbClr val="E3D2BE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611112" y="5477256"/>
            <a:ext cx="4105656" cy="4389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</a:rPr>
              <a:t>Важно: регрессия показывает статистические связи, а не причинность. Частота заказов отдельно не стала значимым предиктором.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 w="12700">
            <a:solidFill>
              <a:srgbClr val="FFFC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01400" y="20116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360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355080"/>
            <a:ext cx="10927080" cy="0"/>
          </a:xfrm>
          <a:prstGeom prst="line">
            <a:avLst/>
          </a:prstGeom>
          <a:noFill/>
          <a:ln w="8255">
            <a:solidFill>
              <a:srgbClr val="D8D1C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4572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Что закрывает работа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76656" y="98755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606E"/>
                </a:solidFill>
              </a:rPr>
              <a:t>Основная часть и дополнительные пункты для оценки 4-5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1627632"/>
            <a:ext cx="512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8A29"/>
                </a:solidFill>
              </a:rPr>
              <a:t>1.1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1627632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14213D"/>
                </a:solidFill>
              </a:rPr>
              <a:t>Тема, анкета, формат онлайн-опроса</a:t>
            </a:r>
            <a:endParaRPr lang="en-US" sz="1330" dirty="0"/>
          </a:p>
        </p:txBody>
      </p:sp>
      <p:sp>
        <p:nvSpPr>
          <p:cNvPr id="9" name="Text 7"/>
          <p:cNvSpPr/>
          <p:nvPr/>
        </p:nvSpPr>
        <p:spPr>
          <a:xfrm>
            <a:off x="868680" y="2194560"/>
            <a:ext cx="512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8A29"/>
                </a:solidFill>
              </a:rPr>
              <a:t>1.2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2194560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14213D"/>
                </a:solidFill>
              </a:rPr>
              <a:t>Описание результатов, таблицы, диаграммы, матрица оценок</a:t>
            </a:r>
            <a:endParaRPr lang="en-US" sz="1330" dirty="0"/>
          </a:p>
        </p:txBody>
      </p:sp>
      <p:sp>
        <p:nvSpPr>
          <p:cNvPr id="11" name="Text 9"/>
          <p:cNvSpPr/>
          <p:nvPr/>
        </p:nvSpPr>
        <p:spPr>
          <a:xfrm>
            <a:off x="868680" y="2761488"/>
            <a:ext cx="512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8A29"/>
                </a:solidFill>
              </a:rPr>
              <a:t>1.3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4480" y="2761488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14213D"/>
                </a:solidFill>
              </a:rPr>
              <a:t>Факторный анализ оцениваемых объектов</a:t>
            </a:r>
            <a:endParaRPr lang="en-US" sz="1330" dirty="0"/>
          </a:p>
        </p:txBody>
      </p:sp>
      <p:sp>
        <p:nvSpPr>
          <p:cNvPr id="13" name="Text 11"/>
          <p:cNvSpPr/>
          <p:nvPr/>
        </p:nvSpPr>
        <p:spPr>
          <a:xfrm>
            <a:off x="868680" y="3328416"/>
            <a:ext cx="512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8A29"/>
                </a:solidFill>
              </a:rPr>
              <a:t>1.4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3328416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14213D"/>
                </a:solidFill>
              </a:rPr>
              <a:t>Факторный анализ характеристик экспертов</a:t>
            </a:r>
            <a:endParaRPr lang="en-US" sz="1330" dirty="0"/>
          </a:p>
        </p:txBody>
      </p:sp>
      <p:sp>
        <p:nvSpPr>
          <p:cNvPr id="15" name="Text 13"/>
          <p:cNvSpPr/>
          <p:nvPr/>
        </p:nvSpPr>
        <p:spPr>
          <a:xfrm>
            <a:off x="868680" y="3895344"/>
            <a:ext cx="512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8A29"/>
                </a:solidFill>
              </a:rPr>
              <a:t>1.5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54480" y="3895344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14213D"/>
                </a:solidFill>
              </a:rPr>
              <a:t>Фридман и коэффициент конкордации</a:t>
            </a:r>
            <a:endParaRPr lang="en-US" sz="1330" dirty="0"/>
          </a:p>
        </p:txBody>
      </p:sp>
      <p:sp>
        <p:nvSpPr>
          <p:cNvPr id="17" name="Text 15"/>
          <p:cNvSpPr/>
          <p:nvPr/>
        </p:nvSpPr>
        <p:spPr>
          <a:xfrm>
            <a:off x="868680" y="4462272"/>
            <a:ext cx="512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8A29"/>
                </a:solidFill>
              </a:rPr>
              <a:t>1.6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54480" y="4462272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14213D"/>
                </a:solidFill>
              </a:rPr>
              <a:t>Презентация вставлена в приложение отчета</a:t>
            </a:r>
            <a:endParaRPr lang="en-US" sz="1330" dirty="0"/>
          </a:p>
        </p:txBody>
      </p:sp>
      <p:sp>
        <p:nvSpPr>
          <p:cNvPr id="19" name="Text 17"/>
          <p:cNvSpPr/>
          <p:nvPr/>
        </p:nvSpPr>
        <p:spPr>
          <a:xfrm>
            <a:off x="6446520" y="1627632"/>
            <a:ext cx="512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8A29"/>
                </a:solidFill>
              </a:rPr>
              <a:t>2.1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132320" y="1627632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14213D"/>
                </a:solidFill>
              </a:rPr>
              <a:t>Регрессионный анализ рекомендации</a:t>
            </a:r>
            <a:endParaRPr lang="en-US" sz="1330" dirty="0"/>
          </a:p>
        </p:txBody>
      </p:sp>
      <p:sp>
        <p:nvSpPr>
          <p:cNvPr id="21" name="Text 19"/>
          <p:cNvSpPr/>
          <p:nvPr/>
        </p:nvSpPr>
        <p:spPr>
          <a:xfrm>
            <a:off x="6446520" y="2194560"/>
            <a:ext cx="512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8A29"/>
                </a:solidFill>
              </a:rPr>
              <a:t>2.2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32320" y="2194560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14213D"/>
                </a:solidFill>
              </a:rPr>
              <a:t>Смежный опрос: базовые оценки + блок факторов выбора</a:t>
            </a:r>
            <a:endParaRPr lang="en-US" sz="1330" dirty="0"/>
          </a:p>
        </p:txBody>
      </p:sp>
      <p:sp>
        <p:nvSpPr>
          <p:cNvPr id="23" name="Text 21"/>
          <p:cNvSpPr/>
          <p:nvPr/>
        </p:nvSpPr>
        <p:spPr>
          <a:xfrm>
            <a:off x="6446520" y="2761488"/>
            <a:ext cx="512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8A29"/>
                </a:solidFill>
              </a:rPr>
              <a:t>2.3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132320" y="2761488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14213D"/>
                </a:solidFill>
              </a:rPr>
              <a:t>Предобработка: интегральные оценки, шкалы, log-расходы</a:t>
            </a:r>
            <a:endParaRPr lang="en-US" sz="1330" dirty="0"/>
          </a:p>
        </p:txBody>
      </p:sp>
      <p:sp>
        <p:nvSpPr>
          <p:cNvPr id="25" name="Text 23"/>
          <p:cNvSpPr/>
          <p:nvPr/>
        </p:nvSpPr>
        <p:spPr>
          <a:xfrm>
            <a:off x="6446520" y="3328416"/>
            <a:ext cx="512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8A29"/>
                </a:solidFill>
              </a:rPr>
              <a:t>2.4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132320" y="3328416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14213D"/>
                </a:solidFill>
              </a:rPr>
              <a:t>Пересчет согласованности без сомнительных анкет</a:t>
            </a:r>
            <a:endParaRPr lang="en-US" sz="1330" dirty="0"/>
          </a:p>
        </p:txBody>
      </p:sp>
      <p:sp>
        <p:nvSpPr>
          <p:cNvPr id="27" name="Shape 25"/>
          <p:cNvSpPr/>
          <p:nvPr/>
        </p:nvSpPr>
        <p:spPr>
          <a:xfrm>
            <a:off x="5989320" y="1572768"/>
            <a:ext cx="0" cy="3749040"/>
          </a:xfrm>
          <a:prstGeom prst="line">
            <a:avLst/>
          </a:prstGeom>
          <a:noFill/>
          <a:ln w="12700">
            <a:solidFill>
              <a:srgbClr val="D8D1C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43000" y="5715000"/>
            <a:ext cx="9875520" cy="566928"/>
          </a:xfrm>
          <a:prstGeom prst="roundRect">
            <a:avLst>
              <a:gd name="adj" fmla="val 16129"/>
            </a:avLst>
          </a:prstGeom>
          <a:solidFill>
            <a:srgbClr val="E7F1EF"/>
          </a:solidFill>
          <a:ln w="7620">
            <a:solidFill>
              <a:srgbClr val="E3D2BE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307592" y="5843016"/>
            <a:ext cx="954633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</a:rPr>
              <a:t>Для защиты важно уметь объяснить не только выводы, но и каждое преобразование: интегральная оценка, ранги, PCA, varimax, критерий Фридмана, W и регрессия.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 w="12700">
            <a:solidFill>
              <a:srgbClr val="FFFCF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01400" y="20116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360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355080"/>
            <a:ext cx="10927080" cy="0"/>
          </a:xfrm>
          <a:prstGeom prst="line">
            <a:avLst/>
          </a:prstGeom>
          <a:noFill/>
          <a:ln w="8255">
            <a:solidFill>
              <a:srgbClr val="D8D1C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4572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Итоговая интерпретация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76656" y="987552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606E"/>
                </a:solidFill>
              </a:rPr>
              <a:t>Рейтинг есть, но логика выбора у студентов многомерна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1417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58A29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1417320"/>
            <a:ext cx="94183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Самокат лидирует по интегральной оценке и среднему рангу, прежде всего за счёт скорости.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240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58A29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25880" y="2240280"/>
            <a:ext cx="93268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Яндекс Еда сильна по качеству и привычности, но это не автоматически делает её лидером по всем критериям.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68680" y="3063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58A29"/>
                </a:solidFill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325880" y="3063240"/>
            <a:ext cx="93268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Низкая конкордация - не ошибка, а содержательный результат: привычки, бюджет и сценарии использования различаются.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68680" y="391363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58A29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25880" y="3913632"/>
            <a:ext cx="93268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Рекомендация связана не с одной оценкой сервиса, а с вовлечённостью, расходами и экономической логикой выбора.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965960" y="5349240"/>
            <a:ext cx="8138160" cy="685800"/>
          </a:xfrm>
          <a:prstGeom prst="roundRect">
            <a:avLst>
              <a:gd name="adj" fmla="val 13333"/>
            </a:avLst>
          </a:prstGeom>
          <a:solidFill>
            <a:srgbClr val="F4E5D6"/>
          </a:solidFill>
          <a:ln w="7620">
            <a:solidFill>
              <a:srgbClr val="E3D2BE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130552" y="5477256"/>
            <a:ext cx="7808976" cy="4846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</a:rPr>
              <a:t>Короткий ответ на защите: работа показывает не только «кто лучше», но и почему студенты расходятся в оценках.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ГУАП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Факторный анализ и экспертная оценка сервисов доставки еды</dc:title>
  <dc:subject>Практическая работа №3</dc:subject>
  <dc:creator>ГУАП</dc:creator>
  <cp:lastModifiedBy>ГУАП</cp:lastModifiedBy>
  <cp:revision>1</cp:revision>
  <dcterms:created xsi:type="dcterms:W3CDTF">2026-05-01T21:03:02Z</dcterms:created>
  <dcterms:modified xsi:type="dcterms:W3CDTF">2026-05-01T21:03:02Z</dcterms:modified>
</cp:coreProperties>
</file>