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3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771" r:id="rId1"/>
    <p:sldMasterId id="2147483657" r:id="rId2"/>
    <p:sldMasterId id="2147483828" r:id="rId3"/>
    <p:sldMasterId id="2147483833" r:id="rId4"/>
  </p:sldMasterIdLst>
  <p:notesMasterIdLst>
    <p:notesMasterId r:id="rId34"/>
  </p:notesMasterIdLst>
  <p:handoutMasterIdLst>
    <p:handoutMasterId r:id="rId35"/>
  </p:handoutMasterIdLst>
  <p:sldIdLst>
    <p:sldId id="1171" r:id="rId5"/>
    <p:sldId id="1172" r:id="rId17"/>
    <p:sldId id="1173" r:id="rId18"/>
    <p:sldId id="1174" r:id="rId19"/>
    <p:sldId id="1175" r:id="rId20"/>
    <p:sldId id="1176" r:id="rId21"/>
    <p:sldId id="1177" r:id="rId22"/>
    <p:sldId id="1178" r:id="rId23"/>
    <p:sldId id="1179" r:id="rId24"/>
    <p:sldId id="1180" r:id="rId25"/>
  </p:sldIdLst>
  <p:sldSz cx="12192000" cy="6858000"/>
  <p:notesSz cx="6858000" cy="9144000"/>
  <p:embeddedFontLst>
    <p:embeddedFont>
      <p:font typeface="Calibri" panose="020F0502020204030204" pitchFamily="34" charset="0"/>
      <p:regular r:id="rId36"/>
      <p:bold r:id="rId37"/>
      <p:italic r:id="rId38"/>
      <p:boldItalic r:id="rId39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уководство" id="{E6ECDA77-1B8E-0E4F-8DDA-529EB99512FD}">
          <p14:sldIdLst>
            <p14:sldId id="1171"/>
            <p14:sldId id="1126"/>
            <p14:sldId id="1173"/>
            <p14:sldId id="1097"/>
            <p14:sldId id="1172"/>
            <p14:sldId id="1102"/>
            <p14:sldId id="1185"/>
          </p14:sldIdLst>
        </p14:section>
        <p14:section name="Пример презентации" id="{09F8C32E-5747-4822-BAD0-340E7A748DE7}">
          <p14:sldIdLst>
            <p14:sldId id="1174"/>
            <p14:sldId id="1170"/>
            <p14:sldId id="1180"/>
            <p14:sldId id="1181"/>
            <p14:sldId id="1179"/>
            <p14:sldId id="1177"/>
            <p14:sldId id="1186"/>
            <p14:sldId id="1187"/>
            <p14:sldId id="1188"/>
            <p14:sldId id="1194"/>
            <p14:sldId id="1195"/>
            <p14:sldId id="1189"/>
            <p14:sldId id="1198"/>
            <p14:sldId id="1129"/>
            <p14:sldId id="1119"/>
          </p14:sldIdLst>
        </p14:section>
        <p14:section name="Дополнительные материалы" id="{62AE7809-B62A-4B2F-9EA4-7E7E0961CF08}">
          <p14:sldIdLst>
            <p14:sldId id="1175"/>
            <p14:sldId id="1190"/>
            <p14:sldId id="1191"/>
            <p14:sldId id="1120"/>
          </p14:sldIdLst>
        </p14:section>
        <p14:section name="Макеты для завершения презентации" id="{7BDEF82D-D64F-4A14-9B34-FEADAC1724BD}">
          <p14:sldIdLst>
            <p14:sldId id="1192"/>
            <p14:sldId id="1193"/>
            <p14:sldId id="1197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Алексей Малышев" initials="АМ" lastIdx="8" clrIdx="0">
    <p:extLst>
      <p:ext uri="{19B8F6BF-5375-455C-9EA6-DF929625EA0E}">
        <p15:presenceInfo xmlns:p15="http://schemas.microsoft.com/office/powerpoint/2012/main" userId="8ae9c15f625b32bb" providerId="Windows Live"/>
      </p:ext>
    </p:extLst>
  </p:cmAuthor>
  <p:cmAuthor id="2" name="OCTS" initials="O" lastIdx="1" clrIdx="1">
    <p:extLst>
      <p:ext uri="{19B8F6BF-5375-455C-9EA6-DF929625EA0E}">
        <p15:presenceInfo xmlns:p15="http://schemas.microsoft.com/office/powerpoint/2012/main" userId="OCTS" providerId="None"/>
      </p:ext>
    </p:extLst>
  </p:cmAuthor>
  <p:cmAuthor id="3" name="Kostylev Andrey" initials="KA" lastIdx="1" clrIdx="2">
    <p:extLst>
      <p:ext uri="{19B8F6BF-5375-455C-9EA6-DF929625EA0E}">
        <p15:presenceInfo xmlns:p15="http://schemas.microsoft.com/office/powerpoint/2012/main" userId="146efb04217a1102" providerId="Windows Live"/>
      </p:ext>
    </p:extLst>
  </p:cmAuthor>
  <p:cmAuthor id="4" name="Elizaveta Kostyleva" initials="EK" lastIdx="1" clrIdx="3">
    <p:extLst>
      <p:ext uri="{19B8F6BF-5375-455C-9EA6-DF929625EA0E}">
        <p15:presenceInfo xmlns:p15="http://schemas.microsoft.com/office/powerpoint/2012/main" userId="S::ekostyleva@lifevantage.com::e5a115f0-bdb1-48b8-969c-0a472e870de3" providerId="AD"/>
      </p:ext>
    </p:extLst>
  </p:cmAuthor>
  <p:cmAuthor id="5" name="ОЦТС" initials="О" lastIdx="2" clrIdx="4">
    <p:extLst>
      <p:ext uri="{19B8F6BF-5375-455C-9EA6-DF929625EA0E}">
        <p15:presenceInfo xmlns:p15="http://schemas.microsoft.com/office/powerpoint/2012/main" userId="ОЦТС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AAA"/>
    <a:srgbClr val="9D9D9D"/>
    <a:srgbClr val="FEFEFE"/>
    <a:srgbClr val="BFBFBF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Светлый стиль 2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Средний стиль 1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CF1AB2-1976-4502-BF36-3FF5EA218861}" styleName="Средний стиль 4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Светлый стиль 3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3C2FFA5D-87B4-456A-9821-1D502468CF0F}" styleName="Стиль из темы 1 -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Светлый стиль 1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35" autoAdjust="0"/>
    <p:restoredTop sz="90520" autoAdjust="0"/>
  </p:normalViewPr>
  <p:slideViewPr>
    <p:cSldViewPr snapToGrid="0" snapToObjects="1">
      <p:cViewPr varScale="1">
        <p:scale>
          <a:sx n="163" d="100"/>
          <a:sy n="163" d="100"/>
        </p:scale>
        <p:origin x="138" y="17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400" d="100"/>
        <a:sy n="400" d="100"/>
      </p:scale>
      <p:origin x="0" y="0"/>
    </p:cViewPr>
  </p:notesTextViewPr>
  <p:sorterViewPr>
    <p:cViewPr>
      <p:scale>
        <a:sx n="66" d="100"/>
        <a:sy n="66" d="100"/>
      </p:scale>
      <p:origin x="0" y="-7146"/>
    </p:cViewPr>
  </p:sorterViewPr>
  <p:notesViewPr>
    <p:cSldViewPr snapToGrid="0" snapToObjects="1">
      <p:cViewPr varScale="1">
        <p:scale>
          <a:sx n="85" d="100"/>
          <a:sy n="85" d="100"/>
        </p:scale>
        <p:origin x="3804" y="10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" Target="slides/slide1.xml"/><Relationship Id="rId17" Type="http://schemas.openxmlformats.org/officeDocument/2006/relationships/slide" Target="slides/slide2.xml"/><Relationship Id="rId18" Type="http://schemas.openxmlformats.org/officeDocument/2006/relationships/slide" Target="slides/slide3.xml"/><Relationship Id="rId19" Type="http://schemas.openxmlformats.org/officeDocument/2006/relationships/slide" Target="slides/slide4.xml"/><Relationship Id="rId20" Type="http://schemas.openxmlformats.org/officeDocument/2006/relationships/slide" Target="slides/slide5.xml"/><Relationship Id="rId21" Type="http://schemas.openxmlformats.org/officeDocument/2006/relationships/slide" Target="slides/slide6.xml"/><Relationship Id="rId22" Type="http://schemas.openxmlformats.org/officeDocument/2006/relationships/slide" Target="slides/slide7.xml"/><Relationship Id="rId23" Type="http://schemas.openxmlformats.org/officeDocument/2006/relationships/slide" Target="slides/slide8.xml"/><Relationship Id="rId24" Type="http://schemas.openxmlformats.org/officeDocument/2006/relationships/slide" Target="slides/slide9.xml"/><Relationship Id="rId25" Type="http://schemas.openxmlformats.org/officeDocument/2006/relationships/slide" Target="slides/slide10.xml"/><Relationship Id="rId34" Type="http://schemas.openxmlformats.org/officeDocument/2006/relationships/notesMaster" Target="notesMasters/notesMaster1.xml"/><Relationship Id="rId35" Type="http://schemas.openxmlformats.org/officeDocument/2006/relationships/handoutMaster" Target="handoutMasters/handoutMaster1.xml"/><Relationship Id="rId36" Type="http://schemas.openxmlformats.org/officeDocument/2006/relationships/font" Target="fonts/font1.fntdata"/><Relationship Id="rId37" Type="http://schemas.openxmlformats.org/officeDocument/2006/relationships/font" Target="fonts/font2.fntdata"/><Relationship Id="rId38" Type="http://schemas.openxmlformats.org/officeDocument/2006/relationships/font" Target="fonts/font3.fntdata"/><Relationship Id="rId39" Type="http://schemas.openxmlformats.org/officeDocument/2006/relationships/font" Target="fonts/font4.fntdata"/><Relationship Id="rId40" Type="http://schemas.openxmlformats.org/officeDocument/2006/relationships/commentAuthors" Target="commentAuthors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A78F288-5E3C-4F81-AD43-7789565D295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82D620-2592-455C-9AF4-8E2D0C2F79A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FFCE6C-E7E6-4C35-A8B5-8F9784AA6873}" type="datetimeFigureOut">
              <a:rPr lang="en-US" smtClean="0"/>
              <a:t>6/16/2023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55628E3-CFC5-471A-B6A2-9F949B2E814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586937-338C-4D39-8822-B1F000CF62F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E77762-F59A-4FB1-90F9-50BE76F03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85588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D46D5B-6567-794D-8CBA-5CCA973D6774}" type="datetimeFigureOut">
              <a:t>16.06.2023</a:t>
            </a:fld>
            <a:endParaRPr lang="ru-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EDE2F8-02D4-C448-B364-7246A6689E7F}" type="slidenum"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879344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openxmlformats.org/officeDocument/2006/relationships/image" Target="../media/image5.svg"/><Relationship Id="rId4" Type="http://schemas.openxmlformats.org/officeDocument/2006/relationships/image" Target="../media/image6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image" Target="../media/image6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image" Target="../media/image6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ая страниц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176EB76-0898-4F71-9685-0F9BE4E1FB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CD38B1-ACC6-416C-AF72-6F91347F95C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4568243"/>
            <a:ext cx="6330950" cy="841155"/>
          </a:xfrm>
        </p:spPr>
        <p:txBody>
          <a:bodyPr/>
          <a:lstStyle>
            <a:lvl1pPr>
              <a:spcBef>
                <a:spcPts val="0"/>
              </a:spcBef>
              <a:defRPr/>
            </a:lvl1pPr>
            <a:lvl3pPr marL="914400" indent="0">
              <a:buNone/>
              <a:defRPr/>
            </a:lvl3pPr>
          </a:lstStyle>
          <a:p>
            <a:pPr lvl="0"/>
            <a:r>
              <a:rPr lang="ru-RU" dirty="0"/>
              <a:t>Имя Фамилия 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F0C140D7-ACA5-419A-846F-D1888293EFF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152598" y="5993952"/>
            <a:ext cx="3488540" cy="387798"/>
          </a:xfrm>
        </p:spPr>
        <p:txBody>
          <a:bodyPr/>
          <a:lstStyle>
            <a:lvl2pPr>
              <a:defRPr/>
            </a:lvl2pPr>
            <a:lvl3pPr marL="914400" indent="0">
              <a:buNone/>
              <a:defRPr/>
            </a:lvl3pPr>
          </a:lstStyle>
          <a:p>
            <a:pPr lvl="1"/>
            <a:r>
              <a:rPr lang="ru-RU" dirty="0"/>
              <a:t>Дата</a:t>
            </a:r>
          </a:p>
        </p:txBody>
      </p:sp>
    </p:spTree>
    <p:extLst>
      <p:ext uri="{BB962C8B-B14F-4D97-AF65-F5344CB8AC3E}">
        <p14:creationId xmlns:p14="http://schemas.microsoft.com/office/powerpoint/2010/main" val="28914157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 - один бл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D7347E-D0C8-4C5C-B7FE-A4CCFC0D2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84CF1BEE-FB60-4C41-A4CB-1FA10956AD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3" y="1341438"/>
            <a:ext cx="7489825" cy="5040312"/>
          </a:xfrm>
        </p:spPr>
        <p:txBody>
          <a:bodyPr numCol="1" spcCol="720000"/>
          <a:lstStyle>
            <a:lvl1pPr>
              <a:spcAft>
                <a:spcPts val="1200"/>
              </a:spcAft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1558704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065" userDrawn="1">
          <p15:clr>
            <a:srgbClr val="9FCC3B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 - два бло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D7347E-D0C8-4C5C-B7FE-A4CCFC0D2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84CF1BEE-FB60-4C41-A4CB-1FA10956AD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3" y="1341438"/>
            <a:ext cx="5184775" cy="5040312"/>
          </a:xfrm>
        </p:spPr>
        <p:txBody>
          <a:bodyPr numCol="1" spcCol="720000"/>
          <a:lstStyle>
            <a:lvl1pPr>
              <a:spcAft>
                <a:spcPts val="1200"/>
              </a:spcAft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" name="Текст 5">
            <a:extLst>
              <a:ext uri="{FF2B5EF4-FFF2-40B4-BE49-F238E27FC236}">
                <a16:creationId xmlns:a16="http://schemas.microsoft.com/office/drawing/2014/main" id="{C75DE5C1-456E-4D90-87F0-D35E9FD23C3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456364" y="1341437"/>
            <a:ext cx="5184775" cy="5040312"/>
          </a:xfrm>
        </p:spPr>
        <p:txBody>
          <a:bodyPr numCol="1" spcCol="720000"/>
          <a:lstStyle>
            <a:lvl1pPr>
              <a:spcAft>
                <a:spcPts val="1200"/>
              </a:spcAft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9624846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 - две колонки в одном блок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D7347E-D0C8-4C5C-B7FE-A4CCFC0D2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84CF1BEE-FB60-4C41-A4CB-1FA10956AD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3" y="1341438"/>
            <a:ext cx="11090275" cy="5040312"/>
          </a:xfrm>
        </p:spPr>
        <p:txBody>
          <a:bodyPr numCol="2" spcCol="720000"/>
          <a:lstStyle>
            <a:lvl1pPr>
              <a:spcAft>
                <a:spcPts val="1200"/>
              </a:spcAft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0974720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дин бл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D7347E-D0C8-4C5C-B7FE-A4CCFC0D2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7" name="Объект 6">
            <a:extLst>
              <a:ext uri="{FF2B5EF4-FFF2-40B4-BE49-F238E27FC236}">
                <a16:creationId xmlns:a16="http://schemas.microsoft.com/office/drawing/2014/main" id="{8E0F7007-BD13-44DA-B2D4-D16824AB459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862" y="1341438"/>
            <a:ext cx="7475537" cy="5040312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42721283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065" userDrawn="1">
          <p15:clr>
            <a:srgbClr val="9FCC3B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дин блок с заголовком/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D7347E-D0C8-4C5C-B7FE-A4CCFC0D2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7" name="Объект 6">
            <a:extLst>
              <a:ext uri="{FF2B5EF4-FFF2-40B4-BE49-F238E27FC236}">
                <a16:creationId xmlns:a16="http://schemas.microsoft.com/office/drawing/2014/main" id="{8E0F7007-BD13-44DA-B2D4-D16824AB459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862" y="1819276"/>
            <a:ext cx="7475537" cy="45624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64C3877D-2148-449E-8D18-378259BFDF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0863" y="1341438"/>
            <a:ext cx="7475536" cy="635000"/>
          </a:xfrm>
        </p:spPr>
        <p:txBody>
          <a:bodyPr/>
          <a:lstStyle/>
          <a:p>
            <a:pPr lvl="1"/>
            <a:r>
              <a:rPr lang="ru-RU" dirty="0"/>
              <a:t>Второй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22561568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065" userDrawn="1">
          <p15:clr>
            <a:srgbClr val="9FCC3B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бло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D7347E-D0C8-4C5C-B7FE-A4CCFC0D2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8" name="Объект 7">
            <a:extLst>
              <a:ext uri="{FF2B5EF4-FFF2-40B4-BE49-F238E27FC236}">
                <a16:creationId xmlns:a16="http://schemas.microsoft.com/office/drawing/2014/main" id="{04B2F2CF-1F6E-4737-8380-2ACFF853EA4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0863" y="1341438"/>
            <a:ext cx="5184775" cy="504031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0" name="Объект 9">
            <a:extLst>
              <a:ext uri="{FF2B5EF4-FFF2-40B4-BE49-F238E27FC236}">
                <a16:creationId xmlns:a16="http://schemas.microsoft.com/office/drawing/2014/main" id="{484797F9-7539-4EA9-A418-767254923B7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456363" y="1341438"/>
            <a:ext cx="5184775" cy="504031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2542762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блока с заголовком/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D7347E-D0C8-4C5C-B7FE-A4CCFC0D2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7" name="Объект 6">
            <a:extLst>
              <a:ext uri="{FF2B5EF4-FFF2-40B4-BE49-F238E27FC236}">
                <a16:creationId xmlns:a16="http://schemas.microsoft.com/office/drawing/2014/main" id="{8E0F7007-BD13-44DA-B2D4-D16824AB459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863" y="1828800"/>
            <a:ext cx="5184776" cy="4552949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64C3877D-2148-449E-8D18-378259BFDF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0863" y="1341438"/>
            <a:ext cx="5184775" cy="635000"/>
          </a:xfrm>
        </p:spPr>
        <p:txBody>
          <a:bodyPr/>
          <a:lstStyle/>
          <a:p>
            <a:pPr lvl="1"/>
            <a:r>
              <a:rPr lang="ru-RU" dirty="0"/>
              <a:t>Второй уровень</a:t>
            </a:r>
          </a:p>
        </p:txBody>
      </p:sp>
      <p:sp>
        <p:nvSpPr>
          <p:cNvPr id="8" name="Объект 6">
            <a:extLst>
              <a:ext uri="{FF2B5EF4-FFF2-40B4-BE49-F238E27FC236}">
                <a16:creationId xmlns:a16="http://schemas.microsoft.com/office/drawing/2014/main" id="{9A78599F-D79E-4281-BEF4-7422CEEA54B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466194" y="1828800"/>
            <a:ext cx="5184776" cy="4552949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9" name="Текст 5">
            <a:extLst>
              <a:ext uri="{FF2B5EF4-FFF2-40B4-BE49-F238E27FC236}">
                <a16:creationId xmlns:a16="http://schemas.microsoft.com/office/drawing/2014/main" id="{42A86BF5-AF69-48DE-AFDD-C1FAD65027C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66194" y="1341438"/>
            <a:ext cx="5184775" cy="635000"/>
          </a:xfrm>
        </p:spPr>
        <p:txBody>
          <a:bodyPr/>
          <a:lstStyle/>
          <a:p>
            <a:pPr lvl="1"/>
            <a:r>
              <a:rPr lang="ru-RU" dirty="0"/>
              <a:t>Второй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9112447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лайд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D7347E-D0C8-4C5C-B7FE-A4CCFC0D2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717356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Завершение презентации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3C8354B0-5DDB-49B4-A187-3CEDA1E200D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26875" y="5605171"/>
            <a:ext cx="1014262" cy="314912"/>
          </a:xfrm>
          <a:prstGeom prst="rect">
            <a:avLst/>
          </a:prstGeom>
        </p:spPr>
      </p:pic>
      <p:cxnSp>
        <p:nvCxnSpPr>
          <p:cNvPr id="3" name="Прямая соединительная линия 2">
            <a:extLst>
              <a:ext uri="{FF2B5EF4-FFF2-40B4-BE49-F238E27FC236}">
                <a16:creationId xmlns:a16="http://schemas.microsoft.com/office/drawing/2014/main" id="{188270A5-5B56-4CCE-84C6-4D75D2450723}"/>
              </a:ext>
            </a:extLst>
          </p:cNvPr>
          <p:cNvCxnSpPr>
            <a:cxnSpLocks/>
          </p:cNvCxnSpPr>
          <p:nvPr userDrawn="1"/>
        </p:nvCxnSpPr>
        <p:spPr>
          <a:xfrm>
            <a:off x="550863" y="6010277"/>
            <a:ext cx="11090275" cy="0"/>
          </a:xfrm>
          <a:prstGeom prst="line">
            <a:avLst/>
          </a:prstGeom>
          <a:ln w="15875">
            <a:gradFill>
              <a:gsLst>
                <a:gs pos="0">
                  <a:schemeClr val="accent1"/>
                </a:gs>
                <a:gs pos="54000">
                  <a:schemeClr val="accent3"/>
                </a:gs>
                <a:gs pos="100000">
                  <a:schemeClr val="accent2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2AFB8C0-5C8E-4D3D-ADF9-00059CE618CF}"/>
              </a:ext>
            </a:extLst>
          </p:cNvPr>
          <p:cNvSpPr txBox="1"/>
          <p:nvPr userDrawn="1"/>
        </p:nvSpPr>
        <p:spPr>
          <a:xfrm>
            <a:off x="9541404" y="6179006"/>
            <a:ext cx="2099734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b="1" dirty="0">
                <a:solidFill>
                  <a:schemeClr val="tx2"/>
                </a:solidFill>
              </a:rPr>
              <a:t>https://guap.ru</a:t>
            </a:r>
            <a:endParaRPr lang="ru-RU" sz="1400" b="1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87716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Завершение презентации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3C8354B0-5DDB-49B4-A187-3CEDA1E200D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41843" y="5605171"/>
            <a:ext cx="1014262" cy="314912"/>
          </a:xfrm>
          <a:prstGeom prst="rect">
            <a:avLst/>
          </a:prstGeom>
        </p:spPr>
      </p:pic>
      <p:cxnSp>
        <p:nvCxnSpPr>
          <p:cNvPr id="3" name="Прямая соединительная линия 2">
            <a:extLst>
              <a:ext uri="{FF2B5EF4-FFF2-40B4-BE49-F238E27FC236}">
                <a16:creationId xmlns:a16="http://schemas.microsoft.com/office/drawing/2014/main" id="{188270A5-5B56-4CCE-84C6-4D75D2450723}"/>
              </a:ext>
            </a:extLst>
          </p:cNvPr>
          <p:cNvCxnSpPr>
            <a:cxnSpLocks/>
          </p:cNvCxnSpPr>
          <p:nvPr userDrawn="1"/>
        </p:nvCxnSpPr>
        <p:spPr>
          <a:xfrm>
            <a:off x="550863" y="6010277"/>
            <a:ext cx="10205243" cy="0"/>
          </a:xfrm>
          <a:prstGeom prst="line">
            <a:avLst/>
          </a:prstGeom>
          <a:ln w="15875">
            <a:gradFill>
              <a:gsLst>
                <a:gs pos="0">
                  <a:schemeClr val="accent1"/>
                </a:gs>
                <a:gs pos="54000">
                  <a:schemeClr val="accent3"/>
                </a:gs>
                <a:gs pos="100000">
                  <a:schemeClr val="accent2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42E00DBC-5DC3-4A2C-A94D-350C2F82CC6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/>
          <a:srcRect r="5385"/>
          <a:stretch/>
        </p:blipFill>
        <p:spPr>
          <a:xfrm>
            <a:off x="10776480" y="5500691"/>
            <a:ext cx="864658" cy="91387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FC432CA-A470-414A-9A8F-5EF0FAB4F9C9}"/>
              </a:ext>
            </a:extLst>
          </p:cNvPr>
          <p:cNvSpPr txBox="1"/>
          <p:nvPr userDrawn="1"/>
        </p:nvSpPr>
        <p:spPr>
          <a:xfrm>
            <a:off x="8676746" y="6179006"/>
            <a:ext cx="2099734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b="1" dirty="0">
                <a:solidFill>
                  <a:schemeClr val="tx2"/>
                </a:solidFill>
              </a:rPr>
              <a:t>https://guap.ru</a:t>
            </a:r>
            <a:endParaRPr lang="ru-RU" sz="1400" b="1" dirty="0">
              <a:solidFill>
                <a:schemeClr val="tx2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3A6AFA2-D81A-4798-AEC0-3F4A7A8C22AC}"/>
              </a:ext>
            </a:extLst>
          </p:cNvPr>
          <p:cNvSpPr txBox="1"/>
          <p:nvPr userDrawn="1"/>
        </p:nvSpPr>
        <p:spPr>
          <a:xfrm>
            <a:off x="571238" y="6179006"/>
            <a:ext cx="320506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b="0" dirty="0">
                <a:solidFill>
                  <a:schemeClr val="bg1">
                    <a:lumMod val="50000"/>
                  </a:schemeClr>
                </a:solidFill>
              </a:rPr>
              <a:t>© </a:t>
            </a:r>
            <a:r>
              <a:rPr lang="ru-RU" sz="1100" b="0" dirty="0">
                <a:solidFill>
                  <a:schemeClr val="bg1">
                    <a:lumMod val="50000"/>
                  </a:schemeClr>
                </a:solidFill>
              </a:rPr>
              <a:t>ГУАП, 2023</a:t>
            </a:r>
            <a:endParaRPr lang="ru-RU" sz="1400" b="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00396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Завершение презентации 3 - для выступлени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FFF08F3-1FC8-4409-A953-82A3AF7771C7}"/>
              </a:ext>
            </a:extLst>
          </p:cNvPr>
          <p:cNvSpPr/>
          <p:nvPr userDrawn="1"/>
        </p:nvSpPr>
        <p:spPr>
          <a:xfrm flipH="1">
            <a:off x="0" y="0"/>
            <a:ext cx="12192000" cy="6858000"/>
          </a:xfrm>
          <a:prstGeom prst="rect">
            <a:avLst/>
          </a:prstGeom>
          <a:blipFill>
            <a:blip r:embed="rId2"/>
            <a:stretch>
              <a:fillRect l="-7937" t="-5796" r="-5797" b="-7938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200" dirty="0"/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3C8354B0-5DDB-49B4-A187-3CEDA1E200D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89994" y="1141883"/>
            <a:ext cx="2254761" cy="700067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42E00DBC-5DC3-4A2C-A94D-350C2F82CC6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/>
          <a:srcRect r="5385"/>
          <a:stretch/>
        </p:blipFill>
        <p:spPr>
          <a:xfrm>
            <a:off x="10363289" y="949059"/>
            <a:ext cx="1303250" cy="137742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FC432CA-A470-414A-9A8F-5EF0FAB4F9C9}"/>
              </a:ext>
            </a:extLst>
          </p:cNvPr>
          <p:cNvSpPr txBox="1"/>
          <p:nvPr userDrawn="1"/>
        </p:nvSpPr>
        <p:spPr>
          <a:xfrm>
            <a:off x="8147402" y="1734228"/>
            <a:ext cx="2099734" cy="2308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457200" marR="0" lvl="1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https://guap.ru</a:t>
            </a:r>
            <a:endParaRPr lang="ru-RU" sz="15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150955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Завершение презентации 4 - с контакт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FFF08F3-1FC8-4409-A953-82A3AF7771C7}"/>
              </a:ext>
            </a:extLst>
          </p:cNvPr>
          <p:cNvSpPr/>
          <p:nvPr userDrawn="1"/>
        </p:nvSpPr>
        <p:spPr>
          <a:xfrm flipH="1">
            <a:off x="0" y="0"/>
            <a:ext cx="12192000" cy="6858000"/>
          </a:xfrm>
          <a:prstGeom prst="rect">
            <a:avLst/>
          </a:prstGeom>
          <a:blipFill>
            <a:blip r:embed="rId2"/>
            <a:stretch>
              <a:fillRect l="-7937" t="-5796" r="-5797" b="-7938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200" dirty="0"/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3C8354B0-5DDB-49B4-A187-3CEDA1E200D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89994" y="1141883"/>
            <a:ext cx="2254761" cy="700067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42E00DBC-5DC3-4A2C-A94D-350C2F82CC6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/>
          <a:srcRect r="5385"/>
          <a:stretch/>
        </p:blipFill>
        <p:spPr>
          <a:xfrm>
            <a:off x="10363289" y="949059"/>
            <a:ext cx="1303250" cy="137742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FC432CA-A470-414A-9A8F-5EF0FAB4F9C9}"/>
              </a:ext>
            </a:extLst>
          </p:cNvPr>
          <p:cNvSpPr txBox="1"/>
          <p:nvPr userDrawn="1"/>
        </p:nvSpPr>
        <p:spPr>
          <a:xfrm>
            <a:off x="8147402" y="1734228"/>
            <a:ext cx="2099734" cy="2308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457200" marR="0" lvl="1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https://guap.ru</a:t>
            </a:r>
            <a:endParaRPr lang="ru-RU" sz="15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3FAF823-6E65-4BE2-B22A-CEAA3977E75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56363" y="3275544"/>
            <a:ext cx="5184775" cy="1997341"/>
          </a:xfrm>
        </p:spPr>
        <p:txBody>
          <a:bodyPr anchor="ctr" anchorCtr="0"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</p:spTree>
    <p:extLst>
      <p:ext uri="{BB962C8B-B14F-4D97-AF65-F5344CB8AC3E}">
        <p14:creationId xmlns:p14="http://schemas.microsoft.com/office/powerpoint/2010/main" val="400157638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330978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sv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slideLayout" Target="../slideLayouts/slideLayout3.xml"/><Relationship Id="rId3" Type="http://schemas.openxmlformats.org/officeDocument/2006/relationships/slideLayout" Target="../slideLayouts/slideLayout4.xml"/><Relationship Id="rId4" Type="http://schemas.openxmlformats.org/officeDocument/2006/relationships/theme" Target="../theme/theme2.xml"/><Relationship Id="rId5" Type="http://schemas.openxmlformats.org/officeDocument/2006/relationships/image" Target="../media/image4.png"/><Relationship Id="rId6" Type="http://schemas.openxmlformats.org/officeDocument/2006/relationships/image" Target="../media/image5.sv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Layout" Target="../slideLayouts/slideLayout6.xml"/><Relationship Id="rId3" Type="http://schemas.openxmlformats.org/officeDocument/2006/relationships/slideLayout" Target="../slideLayouts/slideLayout7.xml"/><Relationship Id="rId4" Type="http://schemas.openxmlformats.org/officeDocument/2006/relationships/slideLayout" Target="../slideLayouts/slideLayout8.xml"/><Relationship Id="rId5" Type="http://schemas.openxmlformats.org/officeDocument/2006/relationships/theme" Target="../theme/theme3.xml"/><Relationship Id="rId6" Type="http://schemas.openxmlformats.org/officeDocument/2006/relationships/image" Target="../media/image4.png"/><Relationship Id="rId7" Type="http://schemas.openxmlformats.org/officeDocument/2006/relationships/image" Target="../media/image5.sv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slideLayout" Target="../slideLayouts/slideLayout10.xml"/><Relationship Id="rId3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4.xml"/><Relationship Id="rId7" Type="http://schemas.openxmlformats.org/officeDocument/2006/relationships/theme" Target="../theme/theme4.xml"/><Relationship Id="rId8" Type="http://schemas.openxmlformats.org/officeDocument/2006/relationships/image" Target="../media/image4.png"/><Relationship Id="rId9" Type="http://schemas.openxmlformats.org/officeDocument/2006/relationships/image" Target="../media/image5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DA26B8BC-9AE2-41D8-8A90-8D1C0A2A554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3"/>
            <a:stretch>
              <a:fillRect l="-7937" t="-5796" r="-5797" b="-7938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200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5009951-9659-4924-B8D1-D9994BE1E4E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56155"/>
          <a:stretch/>
        </p:blipFill>
        <p:spPr>
          <a:xfrm>
            <a:off x="550865" y="304376"/>
            <a:ext cx="2827336" cy="1095375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739E3CC-EBAD-4C68-8215-E3D1E33887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4" y="2509678"/>
            <a:ext cx="8051638" cy="1325563"/>
          </a:xfrm>
          <a:prstGeom prst="rect">
            <a:avLst/>
          </a:prstGeom>
        </p:spPr>
        <p:txBody>
          <a:bodyPr vert="horz" lIns="0" tIns="0" rIns="0" bIns="0" rtlCol="0" anchor="b" anchorCtr="0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220187D-590C-4FB1-A787-08B69F583E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0863" y="4568243"/>
            <a:ext cx="6234948" cy="1004784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Дата</a:t>
            </a:r>
          </a:p>
        </p:txBody>
      </p:sp>
    </p:spTree>
    <p:extLst>
      <p:ext uri="{BB962C8B-B14F-4D97-AF65-F5344CB8AC3E}">
        <p14:creationId xmlns:p14="http://schemas.microsoft.com/office/powerpoint/2010/main" val="16248533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3" r:id="rId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r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3200" kern="1200">
          <a:solidFill>
            <a:schemeClr val="accent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47" userDrawn="1">
          <p15:clr>
            <a:srgbClr val="F26B43"/>
          </p15:clr>
        </p15:guide>
        <p15:guide id="2" pos="7333" userDrawn="1">
          <p15:clr>
            <a:srgbClr val="F26B43"/>
          </p15:clr>
        </p15:guide>
        <p15:guide id="3" orient="horz" pos="402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6">
            <a:extLst>
              <a:ext uri="{FF2B5EF4-FFF2-40B4-BE49-F238E27FC236}">
                <a16:creationId xmlns:a16="http://schemas.microsoft.com/office/drawing/2014/main" id="{EFB9A11F-72FA-0A44-9653-48C9EECB7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407976"/>
            <a:ext cx="9608330" cy="332399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ru-RU" dirty="0"/>
              <a:t>Заголовок слайда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323DE3AE-88ED-4D7E-9545-2150C37B908F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626875" y="407976"/>
            <a:ext cx="1014262" cy="314912"/>
          </a:xfrm>
          <a:prstGeom prst="rect">
            <a:avLst/>
          </a:prstGeom>
        </p:spPr>
      </p:pic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95CF6A84-AC35-45BE-AA65-F59DCCC45A75}"/>
              </a:ext>
            </a:extLst>
          </p:cNvPr>
          <p:cNvCxnSpPr>
            <a:cxnSpLocks/>
          </p:cNvCxnSpPr>
          <p:nvPr userDrawn="1"/>
        </p:nvCxnSpPr>
        <p:spPr>
          <a:xfrm>
            <a:off x="550863" y="968502"/>
            <a:ext cx="11090275" cy="0"/>
          </a:xfrm>
          <a:prstGeom prst="line">
            <a:avLst/>
          </a:prstGeom>
          <a:ln w="15875">
            <a:gradFill>
              <a:gsLst>
                <a:gs pos="0">
                  <a:schemeClr val="accent1"/>
                </a:gs>
                <a:gs pos="54000">
                  <a:schemeClr val="accent3"/>
                </a:gs>
                <a:gs pos="100000">
                  <a:schemeClr val="accent2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Текст 2">
            <a:extLst>
              <a:ext uri="{FF2B5EF4-FFF2-40B4-BE49-F238E27FC236}">
                <a16:creationId xmlns:a16="http://schemas.microsoft.com/office/drawing/2014/main" id="{3B768B2F-9C22-468C-B230-607F8CFF75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0862" y="1341437"/>
            <a:ext cx="10515600" cy="420166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ru-RU" dirty="0"/>
              <a:t>Подзаголовок</a:t>
            </a:r>
          </a:p>
          <a:p>
            <a:pPr lvl="1"/>
            <a:r>
              <a:rPr lang="ru-RU" dirty="0"/>
              <a:t>Заголовок таблицы</a:t>
            </a:r>
          </a:p>
          <a:p>
            <a:pPr lvl="2"/>
            <a:r>
              <a:rPr lang="ru-RU" dirty="0"/>
              <a:t>Подпись рисунка</a:t>
            </a:r>
          </a:p>
          <a:p>
            <a:pPr lvl="3"/>
            <a:r>
              <a:rPr lang="ru-RU" dirty="0"/>
              <a:t>Текст</a:t>
            </a:r>
          </a:p>
          <a:p>
            <a:pPr lvl="4"/>
            <a:r>
              <a:rPr lang="ru-RU" dirty="0"/>
              <a:t>Выделенный текст</a:t>
            </a:r>
          </a:p>
          <a:p>
            <a:pPr lvl="5"/>
            <a:r>
              <a:rPr lang="ru-RU" dirty="0"/>
              <a:t>Маркеры</a:t>
            </a:r>
          </a:p>
          <a:p>
            <a:pPr lvl="6"/>
            <a:r>
              <a:rPr lang="ru-RU" dirty="0"/>
              <a:t>Нумерация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44A2A7-9511-4B2D-A046-C71363808B05}"/>
              </a:ext>
            </a:extLst>
          </p:cNvPr>
          <p:cNvSpPr txBox="1"/>
          <p:nvPr userDrawn="1"/>
        </p:nvSpPr>
        <p:spPr>
          <a:xfrm>
            <a:off x="9212262" y="6513813"/>
            <a:ext cx="24288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261FCC40-BD7D-499B-BF07-C5DEC022620E}" type="slidenum">
              <a:rPr lang="ru-RU" sz="1200" kern="1200" smtClean="0">
                <a:solidFill>
                  <a:schemeClr val="tx2">
                    <a:lumMod val="90000"/>
                  </a:schemeClr>
                </a:solidFill>
                <a:latin typeface="+mn-lt"/>
                <a:ea typeface="+mn-ea"/>
                <a:cs typeface="+mn-cs"/>
              </a:rPr>
              <a:pPr algn="r"/>
              <a:t>‹#›</a:t>
            </a:fld>
            <a:endParaRPr lang="ru-RU" sz="1200" kern="1200" dirty="0">
              <a:solidFill>
                <a:schemeClr val="tx2">
                  <a:lumMod val="90000"/>
                </a:schemeClr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841280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2" r:id="rId1"/>
    <p:sldLayoutId id="2147483801" r:id="rId2"/>
    <p:sldLayoutId id="2147483759" r:id="rId3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2000" kern="1200">
          <a:solidFill>
            <a:schemeClr val="tx2">
              <a:lumMod val="90000"/>
              <a:lumOff val="10000"/>
            </a:schemeClr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800" b="1" kern="1200">
          <a:solidFill>
            <a:schemeClr val="accent1"/>
          </a:solidFill>
          <a:latin typeface="+mn-lt"/>
          <a:ea typeface="+mn-ea"/>
          <a:cs typeface="+mn-cs"/>
        </a:defRPr>
      </a:lvl2pPr>
      <a:lvl3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1">
            <a:lumMod val="50000"/>
          </a:schemeClr>
        </a:buClr>
        <a:buSzPct val="120000"/>
        <a:buFont typeface="Wingdings" panose="05000000000000000000" pitchFamily="2" charset="2"/>
        <a:buNone/>
        <a:defRPr sz="1400" b="1" kern="1200">
          <a:solidFill>
            <a:schemeClr val="tx2"/>
          </a:solidFill>
          <a:latin typeface="+mn-lt"/>
          <a:ea typeface="+mn-ea"/>
          <a:cs typeface="+mn-cs"/>
        </a:defRPr>
      </a:lvl3pPr>
      <a:lvl4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1">
            <a:lumMod val="50000"/>
          </a:schemeClr>
        </a:buClr>
        <a:buFont typeface="+mj-lt"/>
        <a:buNone/>
        <a:tabLst>
          <a:tab pos="269875" algn="l"/>
        </a:tabLst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Wingdings" panose="05000000000000000000" pitchFamily="2" charset="2"/>
        <a:buNone/>
        <a:defRPr sz="1600" b="0" kern="1200">
          <a:solidFill>
            <a:schemeClr val="accent1"/>
          </a:solidFill>
          <a:latin typeface="+mn-lt"/>
          <a:ea typeface="+mn-ea"/>
          <a:cs typeface="+mn-cs"/>
        </a:defRPr>
      </a:lvl5pPr>
      <a:lvl6pPr marL="285750" indent="-28575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2"/>
        </a:buClr>
        <a:buFont typeface="Wingdings" panose="05000000000000000000" pitchFamily="2" charset="2"/>
        <a:buChar char="§"/>
        <a:defRPr sz="1600" b="0" kern="1200">
          <a:solidFill>
            <a:schemeClr val="tx1"/>
          </a:solidFill>
          <a:latin typeface="+mn-lt"/>
          <a:ea typeface="+mn-ea"/>
          <a:cs typeface="+mn-cs"/>
        </a:defRPr>
      </a:lvl6pPr>
      <a:lvl7pPr marL="271463" indent="-271463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+mj-lt"/>
        <a:buAutoNum type="arabicPeriod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45" userDrawn="1">
          <p15:clr>
            <a:srgbClr val="F26B43"/>
          </p15:clr>
        </p15:guide>
        <p15:guide id="2" pos="347">
          <p15:clr>
            <a:srgbClr val="F26B43"/>
          </p15:clr>
        </p15:guide>
        <p15:guide id="3" orient="horz" pos="4020">
          <p15:clr>
            <a:srgbClr val="F26B43"/>
          </p15:clr>
        </p15:guide>
        <p15:guide id="4" pos="7333">
          <p15:clr>
            <a:srgbClr val="F26B43"/>
          </p15:clr>
        </p15:guide>
        <p15:guide id="5" pos="3613" userDrawn="1">
          <p15:clr>
            <a:srgbClr val="F26B43"/>
          </p15:clr>
        </p15:guide>
        <p15:guide id="6" pos="4067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6">
            <a:extLst>
              <a:ext uri="{FF2B5EF4-FFF2-40B4-BE49-F238E27FC236}">
                <a16:creationId xmlns:a16="http://schemas.microsoft.com/office/drawing/2014/main" id="{EFB9A11F-72FA-0A44-9653-48C9EECB7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407976"/>
            <a:ext cx="9608330" cy="332399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ru-RU" dirty="0"/>
              <a:t>Заголовок слайда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323DE3AE-88ED-4D7E-9545-2150C37B908F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26875" y="407976"/>
            <a:ext cx="1014262" cy="314912"/>
          </a:xfrm>
          <a:prstGeom prst="rect">
            <a:avLst/>
          </a:prstGeom>
        </p:spPr>
      </p:pic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95CF6A84-AC35-45BE-AA65-F59DCCC45A75}"/>
              </a:ext>
            </a:extLst>
          </p:cNvPr>
          <p:cNvCxnSpPr>
            <a:cxnSpLocks/>
          </p:cNvCxnSpPr>
          <p:nvPr userDrawn="1"/>
        </p:nvCxnSpPr>
        <p:spPr>
          <a:xfrm>
            <a:off x="550863" y="968502"/>
            <a:ext cx="11090275" cy="0"/>
          </a:xfrm>
          <a:prstGeom prst="line">
            <a:avLst/>
          </a:prstGeom>
          <a:ln w="15875">
            <a:gradFill>
              <a:gsLst>
                <a:gs pos="0">
                  <a:schemeClr val="accent1"/>
                </a:gs>
                <a:gs pos="54000">
                  <a:schemeClr val="accent3"/>
                </a:gs>
                <a:gs pos="100000">
                  <a:schemeClr val="accent2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Текст 2">
            <a:extLst>
              <a:ext uri="{FF2B5EF4-FFF2-40B4-BE49-F238E27FC236}">
                <a16:creationId xmlns:a16="http://schemas.microsoft.com/office/drawing/2014/main" id="{3B768B2F-9C22-468C-B230-607F8CFF75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0862" y="1341437"/>
            <a:ext cx="10515600" cy="420166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ru-RU" dirty="0"/>
              <a:t>Подзаголовок</a:t>
            </a:r>
          </a:p>
          <a:p>
            <a:pPr lvl="1"/>
            <a:r>
              <a:rPr lang="ru-RU" dirty="0"/>
              <a:t>Заголовок таблицы</a:t>
            </a:r>
          </a:p>
          <a:p>
            <a:pPr lvl="2"/>
            <a:r>
              <a:rPr lang="ru-RU" dirty="0"/>
              <a:t>Подпись рисунка</a:t>
            </a:r>
          </a:p>
          <a:p>
            <a:pPr lvl="3"/>
            <a:r>
              <a:rPr lang="ru-RU" dirty="0"/>
              <a:t>Текст</a:t>
            </a:r>
          </a:p>
          <a:p>
            <a:pPr lvl="4"/>
            <a:r>
              <a:rPr lang="ru-RU" dirty="0"/>
              <a:t>Выделенный текст</a:t>
            </a:r>
          </a:p>
          <a:p>
            <a:pPr lvl="5"/>
            <a:r>
              <a:rPr lang="ru-RU" dirty="0"/>
              <a:t>Маркеры</a:t>
            </a:r>
          </a:p>
          <a:p>
            <a:pPr lvl="6"/>
            <a:r>
              <a:rPr lang="ru-RU" dirty="0"/>
              <a:t>Нумерация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9BA297-C05B-4A1B-BC54-4DA26B4C6721}"/>
              </a:ext>
            </a:extLst>
          </p:cNvPr>
          <p:cNvSpPr txBox="1"/>
          <p:nvPr userDrawn="1"/>
        </p:nvSpPr>
        <p:spPr>
          <a:xfrm>
            <a:off x="9212262" y="6513813"/>
            <a:ext cx="24288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261FCC40-BD7D-499B-BF07-C5DEC022620E}" type="slidenum">
              <a:rPr lang="ru-RU" sz="1200" kern="1200" smtClean="0">
                <a:solidFill>
                  <a:schemeClr val="tx2">
                    <a:lumMod val="90000"/>
                  </a:schemeClr>
                </a:solidFill>
                <a:latin typeface="+mn-lt"/>
                <a:ea typeface="+mn-ea"/>
                <a:cs typeface="+mn-cs"/>
              </a:rPr>
              <a:pPr algn="r"/>
              <a:t>‹#›</a:t>
            </a:fld>
            <a:endParaRPr lang="ru-RU" sz="1200" kern="1200" dirty="0">
              <a:solidFill>
                <a:schemeClr val="tx2">
                  <a:lumMod val="90000"/>
                </a:schemeClr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09859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0" r:id="rId1"/>
    <p:sldLayoutId id="2147483844" r:id="rId2"/>
    <p:sldLayoutId id="2147483832" r:id="rId3"/>
    <p:sldLayoutId id="2147483845" r:id="rId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2000" kern="1200">
          <a:solidFill>
            <a:schemeClr val="tx2">
              <a:lumMod val="90000"/>
              <a:lumOff val="10000"/>
            </a:schemeClr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800" b="1" kern="1200">
          <a:solidFill>
            <a:schemeClr val="accent1"/>
          </a:solidFill>
          <a:latin typeface="+mn-lt"/>
          <a:ea typeface="+mn-ea"/>
          <a:cs typeface="+mn-cs"/>
        </a:defRPr>
      </a:lvl2pPr>
      <a:lvl3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1">
            <a:lumMod val="50000"/>
          </a:schemeClr>
        </a:buClr>
        <a:buSzPct val="120000"/>
        <a:buFont typeface="Wingdings" panose="05000000000000000000" pitchFamily="2" charset="2"/>
        <a:buNone/>
        <a:defRPr sz="1400" b="1" kern="1200">
          <a:solidFill>
            <a:schemeClr val="tx2"/>
          </a:solidFill>
          <a:latin typeface="+mn-lt"/>
          <a:ea typeface="+mn-ea"/>
          <a:cs typeface="+mn-cs"/>
        </a:defRPr>
      </a:lvl3pPr>
      <a:lvl4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1">
            <a:lumMod val="50000"/>
          </a:schemeClr>
        </a:buClr>
        <a:buFont typeface="+mj-lt"/>
        <a:buNone/>
        <a:tabLst>
          <a:tab pos="269875" algn="l"/>
        </a:tabLst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Wingdings" panose="05000000000000000000" pitchFamily="2" charset="2"/>
        <a:buNone/>
        <a:defRPr sz="1600" b="0" kern="1200">
          <a:solidFill>
            <a:schemeClr val="accent1"/>
          </a:solidFill>
          <a:latin typeface="+mn-lt"/>
          <a:ea typeface="+mn-ea"/>
          <a:cs typeface="+mn-cs"/>
        </a:defRPr>
      </a:lvl5pPr>
      <a:lvl6pPr marL="285750" indent="-28575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2"/>
        </a:buClr>
        <a:buFont typeface="Wingdings" panose="05000000000000000000" pitchFamily="2" charset="2"/>
        <a:buChar char="§"/>
        <a:defRPr sz="1600" b="0" kern="1200">
          <a:solidFill>
            <a:schemeClr val="tx1"/>
          </a:solidFill>
          <a:latin typeface="+mn-lt"/>
          <a:ea typeface="+mn-ea"/>
          <a:cs typeface="+mn-cs"/>
        </a:defRPr>
      </a:lvl6pPr>
      <a:lvl7pPr marL="271463" indent="-271463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+mj-lt"/>
        <a:buAutoNum type="arabicPeriod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45" userDrawn="1">
          <p15:clr>
            <a:srgbClr val="F26B43"/>
          </p15:clr>
        </p15:guide>
        <p15:guide id="2" pos="347">
          <p15:clr>
            <a:srgbClr val="F26B43"/>
          </p15:clr>
        </p15:guide>
        <p15:guide id="3" orient="horz" pos="4020">
          <p15:clr>
            <a:srgbClr val="F26B43"/>
          </p15:clr>
        </p15:guide>
        <p15:guide id="4" pos="7333">
          <p15:clr>
            <a:srgbClr val="F26B43"/>
          </p15:clr>
        </p15:guide>
        <p15:guide id="5" pos="3613" userDrawn="1">
          <p15:clr>
            <a:srgbClr val="F26B43"/>
          </p15:clr>
        </p15:guide>
        <p15:guide id="6" pos="4067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6">
            <a:extLst>
              <a:ext uri="{FF2B5EF4-FFF2-40B4-BE49-F238E27FC236}">
                <a16:creationId xmlns:a16="http://schemas.microsoft.com/office/drawing/2014/main" id="{EFB9A11F-72FA-0A44-9653-48C9EECB7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407976"/>
            <a:ext cx="9608330" cy="332399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ru-RU" dirty="0"/>
              <a:t>Заголовок слайда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323DE3AE-88ED-4D7E-9545-2150C37B908F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626875" y="407976"/>
            <a:ext cx="1014262" cy="314912"/>
          </a:xfrm>
          <a:prstGeom prst="rect">
            <a:avLst/>
          </a:prstGeom>
        </p:spPr>
      </p:pic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95CF6A84-AC35-45BE-AA65-F59DCCC45A75}"/>
              </a:ext>
            </a:extLst>
          </p:cNvPr>
          <p:cNvCxnSpPr>
            <a:cxnSpLocks/>
          </p:cNvCxnSpPr>
          <p:nvPr userDrawn="1"/>
        </p:nvCxnSpPr>
        <p:spPr>
          <a:xfrm>
            <a:off x="550863" y="968502"/>
            <a:ext cx="11090275" cy="0"/>
          </a:xfrm>
          <a:prstGeom prst="line">
            <a:avLst/>
          </a:prstGeom>
          <a:ln w="15875">
            <a:gradFill>
              <a:gsLst>
                <a:gs pos="0">
                  <a:schemeClr val="accent1"/>
                </a:gs>
                <a:gs pos="54000">
                  <a:schemeClr val="accent3"/>
                </a:gs>
                <a:gs pos="100000">
                  <a:schemeClr val="accent2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Текст 2">
            <a:extLst>
              <a:ext uri="{FF2B5EF4-FFF2-40B4-BE49-F238E27FC236}">
                <a16:creationId xmlns:a16="http://schemas.microsoft.com/office/drawing/2014/main" id="{3B768B2F-9C22-468C-B230-607F8CFF75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0862" y="1341437"/>
            <a:ext cx="10515600" cy="420166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ru-RU" dirty="0"/>
              <a:t>Подзаголовок</a:t>
            </a:r>
          </a:p>
          <a:p>
            <a:pPr lvl="1"/>
            <a:r>
              <a:rPr lang="ru-RU" dirty="0"/>
              <a:t>Заголовок таблицы</a:t>
            </a:r>
          </a:p>
          <a:p>
            <a:pPr lvl="2"/>
            <a:r>
              <a:rPr lang="ru-RU" dirty="0"/>
              <a:t>Подпись рисунка</a:t>
            </a:r>
          </a:p>
          <a:p>
            <a:pPr lvl="3"/>
            <a:r>
              <a:rPr lang="ru-RU" dirty="0"/>
              <a:t>Текст</a:t>
            </a:r>
          </a:p>
          <a:p>
            <a:pPr lvl="4"/>
            <a:r>
              <a:rPr lang="ru-RU" dirty="0"/>
              <a:t>Выделенный текст</a:t>
            </a:r>
          </a:p>
          <a:p>
            <a:pPr lvl="5"/>
            <a:r>
              <a:rPr lang="ru-RU" dirty="0"/>
              <a:t>Маркеры</a:t>
            </a:r>
          </a:p>
          <a:p>
            <a:pPr lvl="6"/>
            <a:r>
              <a:rPr lang="ru-RU" dirty="0"/>
              <a:t>Нумерация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14C9C7-3F3B-4FAE-B19C-B28F0A67B7F7}"/>
              </a:ext>
            </a:extLst>
          </p:cNvPr>
          <p:cNvSpPr txBox="1"/>
          <p:nvPr userDrawn="1"/>
        </p:nvSpPr>
        <p:spPr>
          <a:xfrm>
            <a:off x="9212262" y="6513813"/>
            <a:ext cx="24288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261FCC40-BD7D-499B-BF07-C5DEC022620E}" type="slidenum">
              <a:rPr lang="ru-RU" sz="1200" kern="1200" smtClean="0">
                <a:solidFill>
                  <a:schemeClr val="tx2">
                    <a:lumMod val="90000"/>
                  </a:schemeClr>
                </a:solidFill>
                <a:latin typeface="+mn-lt"/>
                <a:ea typeface="+mn-ea"/>
                <a:cs typeface="+mn-cs"/>
              </a:rPr>
              <a:pPr algn="r"/>
              <a:t>‹#›</a:t>
            </a:fld>
            <a:endParaRPr lang="ru-RU" sz="1200" kern="1200" dirty="0">
              <a:solidFill>
                <a:schemeClr val="tx2">
                  <a:lumMod val="90000"/>
                </a:schemeClr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962496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6" r:id="rId2"/>
    <p:sldLayoutId id="2147483847" r:id="rId3"/>
    <p:sldLayoutId id="2147483849" r:id="rId4"/>
    <p:sldLayoutId id="2147483850" r:id="rId5"/>
    <p:sldLayoutId id="2147483843" r:id="rId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2000" kern="1200">
          <a:solidFill>
            <a:schemeClr val="tx2">
              <a:lumMod val="90000"/>
              <a:lumOff val="10000"/>
            </a:schemeClr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800" b="1" kern="1200">
          <a:solidFill>
            <a:schemeClr val="accent1"/>
          </a:solidFill>
          <a:latin typeface="+mn-lt"/>
          <a:ea typeface="+mn-ea"/>
          <a:cs typeface="+mn-cs"/>
        </a:defRPr>
      </a:lvl2pPr>
      <a:lvl3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1">
            <a:lumMod val="50000"/>
          </a:schemeClr>
        </a:buClr>
        <a:buSzPct val="120000"/>
        <a:buFont typeface="Wingdings" panose="05000000000000000000" pitchFamily="2" charset="2"/>
        <a:buNone/>
        <a:defRPr sz="1400" b="1" kern="1200">
          <a:solidFill>
            <a:schemeClr val="tx2"/>
          </a:solidFill>
          <a:latin typeface="+mn-lt"/>
          <a:ea typeface="+mn-ea"/>
          <a:cs typeface="+mn-cs"/>
        </a:defRPr>
      </a:lvl3pPr>
      <a:lvl4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1">
            <a:lumMod val="50000"/>
          </a:schemeClr>
        </a:buClr>
        <a:buFont typeface="+mj-lt"/>
        <a:buNone/>
        <a:tabLst>
          <a:tab pos="269875" algn="l"/>
        </a:tabLst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Wingdings" panose="05000000000000000000" pitchFamily="2" charset="2"/>
        <a:buNone/>
        <a:defRPr sz="1600" b="0" kern="1200">
          <a:solidFill>
            <a:schemeClr val="accent1"/>
          </a:solidFill>
          <a:latin typeface="+mn-lt"/>
          <a:ea typeface="+mn-ea"/>
          <a:cs typeface="+mn-cs"/>
        </a:defRPr>
      </a:lvl5pPr>
      <a:lvl6pPr marL="285750" indent="-28575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2"/>
        </a:buClr>
        <a:buFont typeface="Wingdings" panose="05000000000000000000" pitchFamily="2" charset="2"/>
        <a:buChar char="§"/>
        <a:defRPr sz="1600" b="0" kern="1200">
          <a:solidFill>
            <a:schemeClr val="tx1"/>
          </a:solidFill>
          <a:latin typeface="+mn-lt"/>
          <a:ea typeface="+mn-ea"/>
          <a:cs typeface="+mn-cs"/>
        </a:defRPr>
      </a:lvl6pPr>
      <a:lvl7pPr marL="271463" indent="-271463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+mj-lt"/>
        <a:buAutoNum type="arabicPeriod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45" userDrawn="1">
          <p15:clr>
            <a:srgbClr val="F26B43"/>
          </p15:clr>
        </p15:guide>
        <p15:guide id="2" pos="347">
          <p15:clr>
            <a:srgbClr val="F26B43"/>
          </p15:clr>
        </p15:guide>
        <p15:guide id="3" orient="horz" pos="4020">
          <p15:clr>
            <a:srgbClr val="F26B43"/>
          </p15:clr>
        </p15:guide>
        <p15:guide id="4" pos="7333">
          <p15:clr>
            <a:srgbClr val="F26B43"/>
          </p15:clr>
        </p15:guide>
        <p15:guide id="5" pos="4067" userDrawn="1">
          <p15:clr>
            <a:srgbClr val="F26B43"/>
          </p15:clr>
        </p15:guide>
        <p15:guide id="6" pos="3613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1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3" Type="http://schemas.openxmlformats.org/officeDocument/2006/relationships/image" Target="../media/image2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2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Relationship Id="rId3" Type="http://schemas.openxmlformats.org/officeDocument/2006/relationships/image" Target="../media/image2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Relationship Id="rId3" Type="http://schemas.openxmlformats.org/officeDocument/2006/relationships/image" Target="../media/image2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DA5BC97-99E1-4827-A5AA-5E9EBED1B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Экспертная оценка</a:t>
            </a:r>
            <a:br/>
            <a:r>
              <a:rPr>
                <a:latin typeface="Arial"/>
              </a:rPr>
              <a:t>сервисов доставки еды</a:t>
            </a:r>
            <a:br/>
            <a:r>
              <a:rPr>
                <a:latin typeface="Arial"/>
              </a:rPr>
              <a:t>и факторный анализ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1EA8D34-BBBA-48A9-9B83-130C3E8DC9D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>
                <a:latin typeface="Arial"/>
              </a:rPr>
              <a:t>Практическая работа № 3</a:t>
            </a:r>
            <a:br/>
            <a:r>
              <a:rPr>
                <a:latin typeface="Arial"/>
              </a:rPr>
              <a:t>Группа 4414: Моисеев Григорий, Герасименко Вадим, Куприянов Егор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C26AC53-244B-4289-B3B5-D31C1BFD52F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rmAutofit fontScale="92500" lnSpcReduction="20000"/>
          </a:bodyPr>
          <a:lstStyle/>
          <a:p>
            <a:r>
              <a:rPr>
                <a:latin typeface="Arial"/>
              </a:rPr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270581585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0E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10312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F28E2B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82880"/>
            <a:ext cx="896112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0E3865"/>
                </a:solidFill>
                <a:latin typeface="Arial"/>
              </a:rPr>
              <a:t>Замысел исследования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576072"/>
            <a:ext cx="10149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60" b="0" i="0">
                <a:solidFill>
                  <a:srgbClr val="606B7B"/>
                </a:solidFill>
                <a:latin typeface="Arial"/>
              </a:rPr>
              <a:t>Что именно изучалось, на каких данных и какими методами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143000"/>
            <a:ext cx="315468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E8EF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252728"/>
            <a:ext cx="2898648" cy="1197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80" b="1" i="0">
                <a:solidFill>
                  <a:srgbClr val="0E3865"/>
                </a:solidFill>
                <a:latin typeface="Arial"/>
              </a:rPr>
              <a:t>Объект исследования</a:t>
            </a:r>
          </a:p>
          <a:p>
            <a:pPr>
              <a:spcBef>
                <a:spcPts val="400"/>
              </a:spcBef>
            </a:pPr>
            <a:r>
              <a:rPr sz="1210" b="0" i="0">
                <a:solidFill>
                  <a:srgbClr val="1F2937"/>
                </a:solidFill>
                <a:latin typeface="Arial"/>
              </a:rPr>
              <a:t>Пять сервисов доставки еды: Яндекс Еда, Самокат, Delivery Club, Купер и Ozon Fresh.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69080" y="1143000"/>
            <a:ext cx="3154680" cy="1417320"/>
          </a:xfrm>
          <a:prstGeom prst="roundRect">
            <a:avLst/>
          </a:prstGeom>
          <a:solidFill>
            <a:srgbClr val="F9FAFC"/>
          </a:solidFill>
          <a:ln>
            <a:solidFill>
              <a:srgbClr val="E8EF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97096" y="1252728"/>
            <a:ext cx="2898648" cy="1197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80" b="1" i="0">
                <a:solidFill>
                  <a:srgbClr val="0E3865"/>
                </a:solidFill>
                <a:latin typeface="Arial"/>
              </a:rPr>
              <a:t>Исходные данные</a:t>
            </a:r>
          </a:p>
          <a:p>
            <a:pPr>
              <a:spcBef>
                <a:spcPts val="400"/>
              </a:spcBef>
            </a:pPr>
            <a:r>
              <a:rPr sz="1210" b="0" i="0">
                <a:solidFill>
                  <a:srgbClr val="1F2937"/>
                </a:solidFill>
                <a:latin typeface="Arial"/>
              </a:rPr>
              <a:t>60 анкет студентов потока 4414–4417; для каждого сервиса собраны оценки цены, скорости и качества.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60920" y="1143000"/>
            <a:ext cx="3977639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E8EF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88936" y="1252728"/>
            <a:ext cx="3721607" cy="1197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80" b="1" i="0">
                <a:solidFill>
                  <a:srgbClr val="0E3865"/>
                </a:solidFill>
                <a:latin typeface="Arial"/>
              </a:rPr>
              <a:t>Методы анализа</a:t>
            </a:r>
          </a:p>
          <a:p>
            <a:pPr>
              <a:spcBef>
                <a:spcPts val="400"/>
              </a:spcBef>
            </a:pPr>
            <a:r>
              <a:rPr sz="1210" b="0" i="0">
                <a:solidFill>
                  <a:srgbClr val="1F2937"/>
                </a:solidFill>
                <a:latin typeface="Arial"/>
              </a:rPr>
              <a:t>Описательная статистика, факторный анализ (PCA + varimax), критерий Фридмана, коэффициент конкордации и OLS-регрессия.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953512"/>
            <a:ext cx="3200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0E3865"/>
                </a:solidFill>
                <a:latin typeface="Arial"/>
              </a:rPr>
              <a:t>Что хотим получить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38328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80" b="0" i="0">
                <a:solidFill>
                  <a:srgbClr val="1F2937"/>
                </a:solidFill>
                <a:latin typeface="Arial"/>
              </a:rPr>
              <a:t>понять, какие сервисы студенты оценивают выше;</a:t>
            </a:r>
          </a:p>
          <a:p>
            <a:pPr>
              <a:spcAft>
                <a:spcPts val="600"/>
              </a:spcAft>
            </a:pPr>
            <a:r>
              <a:rPr sz="1480" b="0" i="0">
                <a:solidFill>
                  <a:srgbClr val="1F2937"/>
                </a:solidFill>
                <a:latin typeface="Arial"/>
              </a:rPr>
              <a:t>показать, за счёт каких факторов оценки расходятся;</a:t>
            </a:r>
          </a:p>
          <a:p>
            <a:pPr>
              <a:spcAft>
                <a:spcPts val="600"/>
              </a:spcAft>
            </a:pPr>
            <a:r>
              <a:rPr sz="1480" b="0" i="0">
                <a:solidFill>
                  <a:srgbClr val="1F2937"/>
                </a:solidFill>
                <a:latin typeface="Arial"/>
              </a:rPr>
              <a:t>объяснить, от чего зависит готовность рекомендовать сервис.</a:t>
            </a:r>
          </a:p>
        </p:txBody>
      </p:sp>
      <p:pic>
        <p:nvPicPr>
          <p:cNvPr id="15" name="Picture 14" descr="integral_scores_ran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898887"/>
            <a:ext cx="4892040" cy="26604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80760" y="5715000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606B7B"/>
                </a:solidFill>
                <a:latin typeface="Arial"/>
              </a:rPr>
              <a:t>Интегральный рейтинг нужен как старт, но он не объясняет причин различий — это делают последующие слайды.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0E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10312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F28E2B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82880"/>
            <a:ext cx="896112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0E3865"/>
                </a:solidFill>
                <a:latin typeface="Arial"/>
              </a:rPr>
              <a:t>Портрет выборки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576072"/>
            <a:ext cx="10149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60" b="0" i="0">
                <a:solidFill>
                  <a:srgbClr val="606B7B"/>
                </a:solidFill>
                <a:latin typeface="Arial"/>
              </a:rPr>
              <a:t>Большинство участников знакомо с доставкой на практике, но интенсивность использования различается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960120"/>
            <a:ext cx="1097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0E3865"/>
                </a:solidFill>
                <a:latin typeface="Arial"/>
              </a:rPr>
              <a:t>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298448"/>
            <a:ext cx="1152144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0">
                <a:solidFill>
                  <a:srgbClr val="606B7B"/>
                </a:solidFill>
                <a:latin typeface="Arial"/>
              </a:rPr>
              <a:t>анкет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5960" y="960120"/>
            <a:ext cx="1097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2C5AA0"/>
                </a:solidFill>
                <a:latin typeface="Arial"/>
              </a:rPr>
              <a:t>57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38528" y="1298448"/>
            <a:ext cx="1152144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0">
                <a:solidFill>
                  <a:srgbClr val="606B7B"/>
                </a:solidFill>
                <a:latin typeface="Arial"/>
              </a:rPr>
              <a:t>пользовались</a:t>
            </a:r>
            <a:br/>
            <a:r>
              <a:rPr sz="950" b="0" i="0">
                <a:solidFill>
                  <a:srgbClr val="606B7B"/>
                </a:solidFill>
                <a:latin typeface="Arial"/>
              </a:rPr>
              <a:t>за 3 месяца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960120"/>
            <a:ext cx="1097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F28E2B"/>
                </a:solidFill>
                <a:latin typeface="Arial"/>
              </a:rPr>
              <a:t>3 002 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47288" y="1298448"/>
            <a:ext cx="1152144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0">
                <a:solidFill>
                  <a:srgbClr val="606B7B"/>
                </a:solidFill>
                <a:latin typeface="Arial"/>
              </a:rPr>
              <a:t>средние</a:t>
            </a:r>
            <a:br/>
            <a:r>
              <a:rPr sz="950" b="0" i="0">
                <a:solidFill>
                  <a:srgbClr val="606B7B"/>
                </a:solidFill>
                <a:latin typeface="Arial"/>
              </a:rPr>
              <a:t>расходы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960120"/>
            <a:ext cx="1097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43925F"/>
                </a:solidFill>
                <a:latin typeface="Arial"/>
              </a:rPr>
              <a:t>1 950 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47488" y="1298448"/>
            <a:ext cx="1152144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0">
                <a:solidFill>
                  <a:srgbClr val="606B7B"/>
                </a:solidFill>
                <a:latin typeface="Arial"/>
              </a:rPr>
              <a:t>медианные</a:t>
            </a:r>
            <a:br/>
            <a:r>
              <a:rPr sz="950" b="0" i="0">
                <a:solidFill>
                  <a:srgbClr val="606B7B"/>
                </a:solidFill>
                <a:latin typeface="Arial"/>
              </a:rPr>
              <a:t>расходы</a:t>
            </a:r>
          </a:p>
        </p:txBody>
      </p:sp>
      <p:pic>
        <p:nvPicPr>
          <p:cNvPr id="15" name="Picture 14" descr="usage_frequenc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11452"/>
            <a:ext cx="5623560" cy="250377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41248" y="5998464"/>
            <a:ext cx="10149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40" b="0" i="0">
                <a:solidFill>
                  <a:srgbClr val="606B7B"/>
                </a:solidFill>
                <a:latin typeface="Arial"/>
              </a:rPr>
              <a:t>Вывод: в выборке нет только «случайных» ответов — большинство респондентов регулярно взаимодействует с доставкой и оценивает сервисы из личного опыта.</a:t>
            </a:r>
          </a:p>
        </p:txBody>
      </p:sp>
      <p:pic>
        <p:nvPicPr>
          <p:cNvPr id="18" name="Picture 17" descr="favorite_service_b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2596069"/>
            <a:ext cx="4663440" cy="25345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0E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10312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F28E2B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82880"/>
            <a:ext cx="896112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0E3865"/>
                </a:solidFill>
                <a:latin typeface="Arial"/>
              </a:rPr>
              <a:t>Средние оценки сервисов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576072"/>
            <a:ext cx="10149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60" b="0" i="0">
                <a:solidFill>
                  <a:srgbClr val="606B7B"/>
                </a:solidFill>
                <a:latin typeface="Arial"/>
              </a:rPr>
              <a:t>Тепловая карта позволяет увидеть, по каким критериям каждый сервис силён относительно остальных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43800" y="1261872"/>
            <a:ext cx="3246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0E3865"/>
                </a:solidFill>
                <a:latin typeface="Arial"/>
              </a:rPr>
              <a:t>Главные наблюдения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71231" y="1700784"/>
            <a:ext cx="33375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20" b="0" i="0">
                <a:solidFill>
                  <a:srgbClr val="1F2937"/>
                </a:solidFill>
                <a:latin typeface="Arial"/>
              </a:rPr>
              <a:t>Ozon Fresh получает лучшую оценку по цене.</a:t>
            </a:r>
          </a:p>
          <a:p>
            <a:pPr>
              <a:spcAft>
                <a:spcPts val="600"/>
              </a:spcAft>
            </a:pPr>
            <a:r>
              <a:rPr sz="1420" b="0" i="0">
                <a:solidFill>
                  <a:srgbClr val="1F2937"/>
                </a:solidFill>
                <a:latin typeface="Arial"/>
              </a:rPr>
              <a:t>Самокат лидирует по скорости доставки.</a:t>
            </a:r>
          </a:p>
          <a:p>
            <a:pPr>
              <a:spcAft>
                <a:spcPts val="600"/>
              </a:spcAft>
            </a:pPr>
            <a:r>
              <a:rPr sz="1420" b="0" i="0">
                <a:solidFill>
                  <a:srgbClr val="1F2937"/>
                </a:solidFill>
                <a:latin typeface="Arial"/>
              </a:rPr>
              <a:t>Яндекс Еда показывает максимум по общему качеству.</a:t>
            </a:r>
          </a:p>
          <a:p>
            <a:pPr>
              <a:spcAft>
                <a:spcPts val="600"/>
              </a:spcAft>
            </a:pPr>
            <a:r>
              <a:rPr sz="1420" b="0" i="0">
                <a:solidFill>
                  <a:srgbClr val="1F2937"/>
                </a:solidFill>
                <a:latin typeface="Arial"/>
              </a:rPr>
              <a:t>Следовательно, у сервисов разные сильные стороны.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71231" y="4709160"/>
            <a:ext cx="3246120" cy="960120"/>
          </a:xfrm>
          <a:prstGeom prst="roundRect">
            <a:avLst/>
          </a:prstGeom>
          <a:solidFill>
            <a:srgbClr val="F4F7FB"/>
          </a:solidFill>
          <a:ln>
            <a:solidFill>
              <a:srgbClr val="E8EF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99248" y="4818888"/>
            <a:ext cx="2990087" cy="740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80" b="1" i="0">
                <a:solidFill>
                  <a:srgbClr val="0E3865"/>
                </a:solidFill>
                <a:latin typeface="Arial"/>
              </a:rPr>
              <a:t>Смысл рисунка</a:t>
            </a:r>
          </a:p>
          <a:p>
            <a:pPr>
              <a:spcBef>
                <a:spcPts val="400"/>
              </a:spcBef>
            </a:pPr>
            <a:r>
              <a:rPr sz="1210" b="0" i="0">
                <a:solidFill>
                  <a:srgbClr val="1F2937"/>
                </a:solidFill>
                <a:latin typeface="Arial"/>
              </a:rPr>
              <a:t>Одна итоговая оценка скрывает различия между критериями, поэтому дальше нужен факторный анализ.</a:t>
            </a:r>
          </a:p>
        </p:txBody>
      </p:sp>
      <p:pic>
        <p:nvPicPr>
          <p:cNvPr id="12" name="Picture 11" descr="service_criteria_heatmap_annota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575391"/>
            <a:ext cx="6629400" cy="378036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0E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10312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F28E2B"/>
                </a:solidFill>
                <a:latin typeface="Arial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82880"/>
            <a:ext cx="896112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0E3865"/>
                </a:solidFill>
                <a:latin typeface="Arial"/>
              </a:rPr>
              <a:t>Факторный анализ сервисов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576072"/>
            <a:ext cx="10149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60">
                <a:solidFill>
                  <a:srgbClr val="606B7B"/>
                </a:solidFill>
                <a:latin typeface="Arial"/>
              </a:rPr>
              <a:t>Разведочная факторная карта: возможные сценарии восприятия сервисов, а не строго доказанные сегменты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12995" y="1500000"/>
            <a:ext cx="36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0E3865"/>
                </a:solidFill>
                <a:latin typeface="Arial"/>
              </a:rPr>
              <a:t>Интерпретация факторов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12995" y="1950000"/>
            <a:ext cx="3600000" cy="2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F1 связан с Самокатом и Ozon Fresh и отражает практичный сценарий заказа.</a:t>
            </a:r>
          </a:p>
          <a:p/>
          <a:p>
            <a:r>
              <a:rPr sz="1600"/>
              <a:t>F2 сильнее связан с Купером и Delivery Club и противопоставляется Яндекс Еде.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5559552"/>
            <a:ext cx="10287000" cy="566928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5669280"/>
            <a:ext cx="9921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70" b="1">
                <a:solidFill>
                  <a:srgbClr val="0E3865"/>
                </a:solidFill>
                <a:latin typeface="Arial"/>
              </a:rPr>
              <a:t>Вывод: сервисы можно условно разнести по разным сценариям использования; интерпретация факторов носит разведочный характер.</a:t>
            </a:r>
          </a:p>
        </p:txBody>
      </p:sp>
      <p:pic>
        <p:nvPicPr>
          <p:cNvPr id="15" name="Picture 14" descr="object_factor_map_annotat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170229"/>
            <a:ext cx="5760720" cy="438038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0E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10312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F28E2B"/>
                </a:solidFill>
                <a:latin typeface="Arial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82880"/>
            <a:ext cx="896112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0E3865"/>
                </a:solidFill>
                <a:latin typeface="Arial"/>
              </a:rPr>
              <a:t>Факторный анализ характеристик экспертов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576072"/>
            <a:ext cx="10149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60" b="0" i="0">
                <a:solidFill>
                  <a:srgbClr val="606B7B"/>
                </a:solidFill>
                <a:latin typeface="Arial"/>
              </a:rPr>
              <a:t>Важно не только то, каковы сервисы, но и кто именно их оценивает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234440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0E3865"/>
                </a:solidFill>
                <a:latin typeface="Arial"/>
              </a:rPr>
              <a:t>Что влияет сильнее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65008" y="1664208"/>
            <a:ext cx="2907792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90" b="0" i="0">
                <a:solidFill>
                  <a:srgbClr val="1F2937"/>
                </a:solidFill>
                <a:latin typeface="Arial"/>
              </a:rPr>
              <a:t>F1: вовлечённость в доставку — 30,2%.</a:t>
            </a:r>
          </a:p>
          <a:p>
            <a:pPr>
              <a:spcAft>
                <a:spcPts val="600"/>
              </a:spcAft>
            </a:pPr>
            <a:r>
              <a:rPr sz="1390" b="0" i="0">
                <a:solidFill>
                  <a:srgbClr val="1F2937"/>
                </a:solidFill>
                <a:latin typeface="Arial"/>
              </a:rPr>
              <a:t>F2: скорость и ассортимент — 13,1%.</a:t>
            </a:r>
          </a:p>
          <a:p>
            <a:pPr>
              <a:spcAft>
                <a:spcPts val="600"/>
              </a:spcAft>
            </a:pPr>
            <a:r>
              <a:rPr sz="1390" b="0" i="0">
                <a:solidFill>
                  <a:srgbClr val="1F2937"/>
                </a:solidFill>
                <a:latin typeface="Arial"/>
              </a:rPr>
              <a:t>F3: цена, скидки и удобство — 12,6%.</a:t>
            </a:r>
          </a:p>
          <a:p>
            <a:pPr>
              <a:spcAft>
                <a:spcPts val="600"/>
              </a:spcAft>
            </a:pPr>
            <a:r>
              <a:rPr sz="1390" b="0" i="0">
                <a:solidFill>
                  <a:srgbClr val="1F2937"/>
                </a:solidFill>
                <a:latin typeface="Arial"/>
              </a:rPr>
              <a:t>F4: точность времени и поддержка — 9,0%.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4370832"/>
            <a:ext cx="2834640" cy="1143000"/>
          </a:xfrm>
          <a:prstGeom prst="roundRect">
            <a:avLst/>
          </a:prstGeom>
          <a:solidFill>
            <a:srgbClr val="F4F7FB"/>
          </a:solidFill>
          <a:ln>
            <a:solidFill>
              <a:srgbClr val="E8EF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74736" y="4480560"/>
            <a:ext cx="2578608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80" b="1" i="0">
                <a:solidFill>
                  <a:srgbClr val="0E3865"/>
                </a:solidFill>
                <a:latin typeface="Arial"/>
              </a:rPr>
              <a:t>Ключевой вывод</a:t>
            </a:r>
          </a:p>
          <a:p>
            <a:pPr>
              <a:spcBef>
                <a:spcPts val="400"/>
              </a:spcBef>
            </a:pPr>
            <a:r>
              <a:rPr sz="1210" b="0" i="0">
                <a:solidFill>
                  <a:srgbClr val="1F2937"/>
                </a:solidFill>
                <a:latin typeface="Arial"/>
              </a:rPr>
              <a:t>Самый сильный фактор — вовлечённость в доставку. Значит, различия в ответах в первую очередь задаются частотой заказов, расходами и пользовательским опытом.</a:t>
            </a:r>
          </a:p>
        </p:txBody>
      </p:sp>
      <p:pic>
        <p:nvPicPr>
          <p:cNvPr id="12" name="Picture 11" descr="expert_factor_top_loadin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913" y="1024128"/>
            <a:ext cx="7224373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0E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10312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F28E2B"/>
                </a:solidFill>
                <a:latin typeface="Arial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82880"/>
            <a:ext cx="896112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0E3865"/>
                </a:solidFill>
                <a:latin typeface="Arial"/>
              </a:rPr>
              <a:t>Согласованность экспертных оценок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576072"/>
            <a:ext cx="10149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60" b="0" i="0">
                <a:solidFill>
                  <a:srgbClr val="606B7B"/>
                </a:solidFill>
                <a:latin typeface="Arial"/>
              </a:rPr>
              <a:t>Проверяем, можно ли говорить о едином мнении группы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097280"/>
            <a:ext cx="1463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0E3865"/>
                </a:solidFill>
                <a:latin typeface="Arial"/>
              </a:rPr>
              <a:t>χ² = 33,11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1435607"/>
            <a:ext cx="1517904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0">
                <a:solidFill>
                  <a:srgbClr val="606B7B"/>
                </a:solidFill>
                <a:latin typeface="Arial"/>
              </a:rPr>
              <a:t>критерий</a:t>
            </a:r>
            <a:br/>
            <a:r>
              <a:rPr sz="950" b="0" i="0">
                <a:solidFill>
                  <a:srgbClr val="606B7B"/>
                </a:solidFill>
                <a:latin typeface="Arial"/>
              </a:rPr>
              <a:t>Фридмана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097280"/>
            <a:ext cx="1463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F28E2B"/>
                </a:solidFill>
                <a:latin typeface="Arial"/>
              </a:rPr>
              <a:t>p &lt; 0,001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24328" y="1435607"/>
            <a:ext cx="1517904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0">
                <a:solidFill>
                  <a:srgbClr val="606B7B"/>
                </a:solidFill>
                <a:latin typeface="Arial"/>
              </a:rPr>
              <a:t>различия</a:t>
            </a:r>
            <a:br/>
            <a:r>
              <a:rPr sz="950" b="0" i="0">
                <a:solidFill>
                  <a:srgbClr val="606B7B"/>
                </a:solidFill>
                <a:latin typeface="Arial"/>
              </a:rPr>
              <a:t>значимы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1097280"/>
            <a:ext cx="1463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2C5AA0"/>
                </a:solidFill>
                <a:latin typeface="Arial"/>
              </a:rPr>
              <a:t>W = 0,138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3128" y="1435607"/>
            <a:ext cx="1517904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0">
                <a:solidFill>
                  <a:srgbClr val="606B7B"/>
                </a:solidFill>
                <a:latin typeface="Arial"/>
              </a:rPr>
              <a:t>конкордация</a:t>
            </a:r>
            <a:br/>
            <a:r>
              <a:rPr sz="950" b="0" i="0">
                <a:solidFill>
                  <a:srgbClr val="606B7B"/>
                </a:solidFill>
                <a:latin typeface="Arial"/>
              </a:rPr>
              <a:t>в полной выборке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097280"/>
            <a:ext cx="1463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43925F"/>
                </a:solidFill>
                <a:latin typeface="Arial"/>
              </a:rPr>
              <a:t>W = 0,132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4807" y="1435607"/>
            <a:ext cx="1517904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0">
                <a:solidFill>
                  <a:srgbClr val="606B7B"/>
                </a:solidFill>
                <a:latin typeface="Arial"/>
              </a:rPr>
              <a:t>после проверки</a:t>
            </a:r>
            <a:br/>
            <a:r>
              <a:rPr sz="950" b="0" i="0">
                <a:solidFill>
                  <a:srgbClr val="606B7B"/>
                </a:solidFill>
                <a:latin typeface="Arial"/>
              </a:rPr>
              <a:t>устойчивости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194560"/>
            <a:ext cx="3657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0E3865"/>
                </a:solidFill>
                <a:latin typeface="Arial"/>
              </a:rPr>
              <a:t>Что это означает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33472"/>
            <a:ext cx="3749039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20">
                <a:latin typeface="Arial"/>
              </a:rPr>
              <a:t>Сервисы различаются статистически значимо.</a:t>
            </a:r>
          </a:p>
          <a:p>
            <a:r>
              <a:rPr sz="1320">
                <a:latin typeface="Arial"/>
              </a:rPr>
              <a:t>Но коэффициент W невысок, поэтому полного единодушия нет.</a:t>
            </a:r>
          </a:p>
          <a:p>
            <a:r>
              <a:rPr sz="1320">
                <a:latin typeface="Arial"/>
              </a:rPr>
              <a:t>Пост-хок Уилкоксон + Холм: Самокат значимо выше Delivery Club, Купера и Ozon Fresh.</a:t>
            </a:r>
          </a:p>
          <a:p>
            <a:r>
              <a:rPr sz="1320">
                <a:latin typeface="Arial"/>
              </a:rPr>
              <a:t>Отличие Самоката от Яндекс Еды статистически не подтверждается.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03720" y="4956048"/>
            <a:ext cx="3703320" cy="777240"/>
          </a:xfrm>
          <a:prstGeom prst="roundRect">
            <a:avLst/>
          </a:prstGeom>
          <a:solidFill>
            <a:srgbClr val="F4F7FB"/>
          </a:solidFill>
          <a:ln>
            <a:solidFill>
              <a:srgbClr val="E8EF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31736" y="5065776"/>
            <a:ext cx="3447287" cy="557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latin typeface="Arial"/>
              </a:rPr>
              <a:t>Вывод</a:t>
            </a:r>
          </a:p>
          <a:p>
            <a:r>
              <a:rPr sz="1300">
                <a:latin typeface="Arial"/>
              </a:rPr>
              <a:t>Рейтинг — усреднённая тенденция, а не полный экспертный консенсус.</a:t>
            </a:r>
          </a:p>
        </p:txBody>
      </p:sp>
      <p:pic>
        <p:nvPicPr>
          <p:cNvPr id="20" name="Picture 19" descr="mean_ranks_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2379162"/>
            <a:ext cx="5852160" cy="305979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0E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10312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F28E2B"/>
                </a:solidFill>
                <a:latin typeface="Arial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82880"/>
            <a:ext cx="896112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0E3865"/>
                </a:solidFill>
                <a:latin typeface="Arial"/>
              </a:rPr>
              <a:t>Регрессионная модель: постановка задачи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576072"/>
            <a:ext cx="10149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60" b="0" i="0">
                <a:solidFill>
                  <a:srgbClr val="606B7B"/>
                </a:solidFill>
                <a:latin typeface="Arial"/>
              </a:rPr>
              <a:t>Важно явно показать целевую переменную, источник данных и проверку качества модели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115568"/>
            <a:ext cx="329184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E8EF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225295"/>
            <a:ext cx="3035808" cy="1106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80" b="1" i="0">
                <a:solidFill>
                  <a:srgbClr val="0E3865"/>
                </a:solidFill>
                <a:latin typeface="Arial"/>
              </a:rPr>
              <a:t>Целевая переменная</a:t>
            </a:r>
          </a:p>
          <a:p>
            <a:pPr>
              <a:spcBef>
                <a:spcPts val="400"/>
              </a:spcBef>
            </a:pPr>
            <a:r>
              <a:rPr sz="1210" b="0" i="0">
                <a:solidFill>
                  <a:srgbClr val="1F2937"/>
                </a:solidFill>
                <a:latin typeface="Arial"/>
              </a:rPr>
              <a:t>Готовность рекомендовать чаще используемый сервис другим студентам (шкала от 1 до 10).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87952" y="1115568"/>
            <a:ext cx="3291840" cy="1325880"/>
          </a:xfrm>
          <a:prstGeom prst="roundRect">
            <a:avLst/>
          </a:prstGeom>
          <a:solidFill>
            <a:srgbClr val="F9FAFC"/>
          </a:solidFill>
          <a:ln>
            <a:solidFill>
              <a:srgbClr val="E8EF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15968" y="1225295"/>
            <a:ext cx="3035808" cy="1106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80" b="1" i="0">
                <a:solidFill>
                  <a:srgbClr val="0E3865"/>
                </a:solidFill>
                <a:latin typeface="Arial"/>
              </a:rPr>
              <a:t>Откуда данные</a:t>
            </a:r>
          </a:p>
          <a:p>
            <a:pPr>
              <a:spcBef>
                <a:spcPts val="400"/>
              </a:spcBef>
            </a:pPr>
            <a:r>
              <a:rPr sz="1210" b="0" i="0">
                <a:solidFill>
                  <a:srgbClr val="1F2937"/>
                </a:solidFill>
                <a:latin typeface="Arial"/>
              </a:rPr>
              <a:t>Признаки берутся из объединённой таблицы ответов: оценка сервиса, частота заказов, расходы, сравнение цен и важность критериев выбора.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44383" y="1115568"/>
            <a:ext cx="329184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E8EF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1225295"/>
            <a:ext cx="3035808" cy="1106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80" b="1" i="0">
                <a:solidFill>
                  <a:srgbClr val="0E3865"/>
                </a:solidFill>
                <a:latin typeface="Arial"/>
              </a:rPr>
              <a:t>Как проверяли</a:t>
            </a:r>
          </a:p>
          <a:p>
            <a:pPr>
              <a:spcBef>
                <a:spcPts val="400"/>
              </a:spcBef>
            </a:pPr>
            <a:r>
              <a:rPr sz="1210" b="0" i="0">
                <a:solidFill>
                  <a:srgbClr val="1F2937"/>
                </a:solidFill>
                <a:latin typeface="Arial"/>
              </a:rPr>
              <a:t>OLS-оценивание; анализ R², F-статистики, t-статистик, p-value и графика фактических и предсказанных значений.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7880" y="2907792"/>
            <a:ext cx="4754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0E3865"/>
                </a:solidFill>
                <a:latin typeface="Arial"/>
              </a:rPr>
              <a:t>Почему график важен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7880" y="3328416"/>
            <a:ext cx="48920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40">
                <a:latin typeface="Arial"/>
              </a:rPr>
              <a:t>Чем ближе точки к диагонали, тем лучше модель описывает данные. Здесь модель улавливает общий уровень, но остаётся объяснительной, а не прогнозной.</a:t>
            </a:r>
          </a:p>
          <a:p>
            <a:r>
              <a:rPr sz="1340">
                <a:latin typeface="Arial"/>
              </a:rPr>
              <a:t>R² = 0,636; RMSE = 1,18; MAE = 0,92.</a:t>
            </a:r>
          </a:p>
        </p:txBody>
      </p:sp>
      <p:pic>
        <p:nvPicPr>
          <p:cNvPr id="16" name="Picture 15" descr="regression_actual_vs_predicted_annota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147" y="2743200"/>
            <a:ext cx="4077929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0E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10312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F28E2B"/>
                </a:solidFill>
                <a:latin typeface="Arial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82880"/>
            <a:ext cx="896112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0E3865"/>
                </a:solidFill>
                <a:latin typeface="Arial"/>
              </a:rPr>
              <a:t>Регрессионная модель: интерпретация коэффициентов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576072"/>
            <a:ext cx="10149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60" b="0" i="0">
                <a:solidFill>
                  <a:srgbClr val="606B7B"/>
                </a:solidFill>
                <a:latin typeface="Arial"/>
              </a:rPr>
              <a:t>Смотрим, какие факторы действительно связаны с готовностью рекомендовать сервис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234440"/>
            <a:ext cx="2697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0E3865"/>
                </a:solidFill>
                <a:latin typeface="Arial"/>
              </a:rPr>
              <a:t>Значимые факторы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11312" y="1673352"/>
            <a:ext cx="28346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20" b="0" i="0">
                <a:solidFill>
                  <a:srgbClr val="1F2937"/>
                </a:solidFill>
                <a:latin typeface="Arial"/>
              </a:rPr>
              <a:t>расходы на доставку: положительная связь;</a:t>
            </a:r>
          </a:p>
          <a:p>
            <a:pPr>
              <a:spcAft>
                <a:spcPts val="600"/>
              </a:spcAft>
            </a:pPr>
            <a:r>
              <a:rPr sz="1420" b="0" i="0">
                <a:solidFill>
                  <a:srgbClr val="1F2937"/>
                </a:solidFill>
                <a:latin typeface="Arial"/>
              </a:rPr>
              <a:t>сравнение цен: положительная связь;</a:t>
            </a:r>
          </a:p>
          <a:p>
            <a:pPr>
              <a:spcAft>
                <a:spcPts val="600"/>
              </a:spcAft>
            </a:pPr>
            <a:r>
              <a:rPr sz="1420" b="0" i="0">
                <a:solidFill>
                  <a:srgbClr val="1F2937"/>
                </a:solidFill>
                <a:latin typeface="Arial"/>
              </a:rPr>
              <a:t>важность цены: отрицательная связь.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00000" y="4443984"/>
            <a:ext cx="3300000" cy="1180000"/>
          </a:xfrm>
          <a:prstGeom prst="roundRect">
            <a:avLst/>
          </a:prstGeom>
          <a:solidFill>
            <a:srgbClr val="F4F7FB"/>
          </a:solidFill>
          <a:ln>
            <a:solidFill>
              <a:srgbClr val="E8EF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20000" y="4553712"/>
            <a:ext cx="2980000" cy="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800"/>
              <a:t>Итог</a:t>
            </a:r>
          </a:p>
          <a:p>
            <a:r>
              <a:rPr sz="1300"/>
              <a:t>Чем выше расходы и чаще сравнение цен, тем выше готовность рекомендовать.</a:t>
            </a:r>
          </a:p>
          <a:p>
            <a:r>
              <a:rPr sz="1300"/>
              <a:t>Высокая чувствительность к цене снижает лояльность.</a:t>
            </a:r>
          </a:p>
        </p:txBody>
      </p:sp>
      <p:pic>
        <p:nvPicPr>
          <p:cNvPr id="12" name="Picture 11" descr="regression_coefficients_c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270266"/>
            <a:ext cx="7269480" cy="453692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0E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10312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F28E2B"/>
                </a:solidFill>
                <a:latin typeface="Arial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82880"/>
            <a:ext cx="896112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0E3865"/>
                </a:solidFill>
                <a:latin typeface="Arial"/>
              </a:rPr>
              <a:t>Итоговые выводы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576072"/>
            <a:ext cx="10149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60" b="0" i="0">
                <a:solidFill>
                  <a:srgbClr val="606B7B"/>
                </a:solidFill>
                <a:latin typeface="Arial"/>
              </a:rPr>
              <a:t>Краткое резюме всей работы в трёх содержательных тезисах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234440"/>
            <a:ext cx="3154680" cy="1874519"/>
          </a:xfrm>
          <a:prstGeom prst="roundRect">
            <a:avLst/>
          </a:prstGeom>
          <a:solidFill>
            <a:srgbClr val="F4F7FB"/>
          </a:solidFill>
          <a:ln>
            <a:solidFill>
              <a:srgbClr val="E8EF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0976" y="1344168"/>
            <a:ext cx="2898648" cy="1655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80" b="1" i="0">
                <a:solidFill>
                  <a:srgbClr val="0E3865"/>
                </a:solidFill>
                <a:latin typeface="Arial"/>
              </a:rPr>
              <a:t>1. Кто выглядит сильнее</a:t>
            </a:r>
          </a:p>
          <a:p>
            <a:pPr>
              <a:spcBef>
                <a:spcPts val="400"/>
              </a:spcBef>
            </a:pPr>
            <a:r>
              <a:rPr sz="1210" b="0" i="0">
                <a:solidFill>
                  <a:srgbClr val="1F2937"/>
                </a:solidFill>
                <a:latin typeface="Arial"/>
              </a:rPr>
              <a:t>Самокат — лидер по интегральной оценке и среднему рангу; Яндекс Еда выделяется по качеству и как наиболее привычный сервис; Ozon Fresh лучше воспринимается по цене.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1234440"/>
            <a:ext cx="3154680" cy="1874519"/>
          </a:xfrm>
          <a:prstGeom prst="roundRect">
            <a:avLst/>
          </a:prstGeom>
          <a:solidFill>
            <a:srgbClr val="F9FAFC"/>
          </a:solidFill>
          <a:ln>
            <a:solidFill>
              <a:srgbClr val="E8EF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34255" y="1344168"/>
            <a:ext cx="2898648" cy="1655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80" b="1" i="0">
                <a:solidFill>
                  <a:srgbClr val="0E3865"/>
                </a:solidFill>
                <a:latin typeface="Arial"/>
              </a:rPr>
              <a:t>2. Почему оценки расходятся</a:t>
            </a:r>
          </a:p>
          <a:p>
            <a:pPr>
              <a:spcBef>
                <a:spcPts val="400"/>
              </a:spcBef>
            </a:pPr>
            <a:r>
              <a:rPr sz="1210" b="0" i="0">
                <a:solidFill>
                  <a:srgbClr val="1F2937"/>
                </a:solidFill>
                <a:latin typeface="Arial"/>
              </a:rPr>
              <a:t>Сервисы сильны в разных сценариях, а сами респонденты отличаются по уровню вовлечённости, бюджету и критериям выбора.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0" y="1234440"/>
            <a:ext cx="3154680" cy="1874519"/>
          </a:xfrm>
          <a:prstGeom prst="roundRect">
            <a:avLst/>
          </a:prstGeom>
          <a:solidFill>
            <a:srgbClr val="F4F7FB"/>
          </a:solidFill>
          <a:ln>
            <a:solidFill>
              <a:srgbClr val="E8EF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17536" y="1344168"/>
            <a:ext cx="2898648" cy="1655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80" b="1" i="0">
                <a:solidFill>
                  <a:srgbClr val="0E3865"/>
                </a:solidFill>
                <a:latin typeface="Arial"/>
              </a:rPr>
              <a:t>3. Что показала модель</a:t>
            </a:r>
          </a:p>
          <a:p>
            <a:pPr>
              <a:spcBef>
                <a:spcPts val="400"/>
              </a:spcBef>
            </a:pPr>
            <a:r>
              <a:rPr sz="1210" b="0" i="0">
                <a:solidFill>
                  <a:srgbClr val="1F2937"/>
                </a:solidFill>
                <a:latin typeface="Arial"/>
              </a:rPr>
              <a:t>Готовность рекомендовать сервис определяется не только общей оценкой, но и экономическим поведением пользователя.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794760"/>
            <a:ext cx="9829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0E3865"/>
                </a:solidFill>
                <a:latin typeface="Arial"/>
              </a:rPr>
              <a:t>Общий вывод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224528"/>
            <a:ext cx="9829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60" b="0" i="0">
                <a:solidFill>
                  <a:srgbClr val="1F2937"/>
                </a:solidFill>
                <a:latin typeface="Arial"/>
              </a:rPr>
              <a:t>Для студентов «лучший» сервис — не универсальный лидер, а сервис, который лучше решает конкретную задачу: быстро доставить, дать выгодное предложение или обеспечить привычный и надёжный пользовательский опыт.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17320" y="5394960"/>
            <a:ext cx="9006840" cy="18288"/>
          </a:xfrm>
          <a:prstGeom prst="rect">
            <a:avLst/>
          </a:prstGeom>
          <a:solidFill>
            <a:srgbClr val="E8E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532120"/>
            <a:ext cx="98298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F28E2B"/>
                </a:solidFill>
                <a:latin typeface="Arial"/>
              </a:rPr>
              <a:t>Спасибо за внимание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итульная страница">
  <a:themeElements>
    <a:clrScheme name="Палитра ГУАП">
      <a:dk1>
        <a:srgbClr val="242834"/>
      </a:dk1>
      <a:lt1>
        <a:srgbClr val="FFFFFF"/>
      </a:lt1>
      <a:dk2>
        <a:srgbClr val="002C5F"/>
      </a:dk2>
      <a:lt2>
        <a:srgbClr val="FFFFFF"/>
      </a:lt2>
      <a:accent1>
        <a:srgbClr val="005AAA"/>
      </a:accent1>
      <a:accent2>
        <a:srgbClr val="E70F47"/>
      </a:accent2>
      <a:accent3>
        <a:srgbClr val="00BEF3"/>
      </a:accent3>
      <a:accent4>
        <a:srgbClr val="9269C9"/>
      </a:accent4>
      <a:accent5>
        <a:srgbClr val="FF6418"/>
      </a:accent5>
      <a:accent6>
        <a:srgbClr val="009A49"/>
      </a:accent6>
      <a:hlink>
        <a:srgbClr val="4E41CC"/>
      </a:hlink>
      <a:folHlink>
        <a:srgbClr val="D65D86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ГУАП презентация курса.potx" id="{0DF838E0-DD05-488A-AC6B-E98ACB4C24AD}" vid="{75426110-BF82-4921-B51E-81780A536C48}"/>
    </a:ext>
  </a:extLst>
</a:theme>
</file>

<file path=ppt/theme/theme2.xml><?xml version="1.0" encoding="utf-8"?>
<a:theme xmlns:a="http://schemas.openxmlformats.org/drawingml/2006/main" name="Текстовые блоки">
  <a:themeElements>
    <a:clrScheme name="Палитра ГУАП">
      <a:dk1>
        <a:srgbClr val="242834"/>
      </a:dk1>
      <a:lt1>
        <a:srgbClr val="FFFFFF"/>
      </a:lt1>
      <a:dk2>
        <a:srgbClr val="002C5F"/>
      </a:dk2>
      <a:lt2>
        <a:srgbClr val="FFFFFF"/>
      </a:lt2>
      <a:accent1>
        <a:srgbClr val="005AAA"/>
      </a:accent1>
      <a:accent2>
        <a:srgbClr val="E70F47"/>
      </a:accent2>
      <a:accent3>
        <a:srgbClr val="00BEF3"/>
      </a:accent3>
      <a:accent4>
        <a:srgbClr val="9269C9"/>
      </a:accent4>
      <a:accent5>
        <a:srgbClr val="FF6418"/>
      </a:accent5>
      <a:accent6>
        <a:srgbClr val="009A49"/>
      </a:accent6>
      <a:hlink>
        <a:srgbClr val="4E41CC"/>
      </a:hlink>
      <a:folHlink>
        <a:srgbClr val="D65D86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16200000" scaled="1"/>
          <a:tileRect/>
        </a:gradFill>
        <a:ln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000" dirty="0">
            <a:solidFill>
              <a:schemeClr val="tx2"/>
            </a:solidFill>
          </a:defRPr>
        </a:defPPr>
      </a:lstStyle>
      <a:style>
        <a:lnRef idx="1">
          <a:schemeClr val="accent1"/>
        </a:lnRef>
        <a:fillRef idx="2">
          <a:schemeClr val="accent1"/>
        </a:fillRef>
        <a:effectRef idx="1">
          <a:schemeClr val="accent1"/>
        </a:effectRef>
        <a:fontRef idx="minor">
          <a:schemeClr val="dk1"/>
        </a:fontRef>
      </a:style>
    </a:spDef>
  </a:objectDefaults>
  <a:extraClrSchemeLst/>
  <a:extLst>
    <a:ext uri="{05A4C25C-085E-4340-85A3-A5531E510DB2}">
      <thm15:themeFamily xmlns:thm15="http://schemas.microsoft.com/office/thememl/2012/main" name="ГУАП презентация курса.potx" id="{0DF838E0-DD05-488A-AC6B-E98ACB4C24AD}" vid="{8C20C85A-CFD0-4C40-80A0-6689F915CE1B}"/>
    </a:ext>
  </a:extLst>
</a:theme>
</file>

<file path=ppt/theme/theme3.xml><?xml version="1.0" encoding="utf-8"?>
<a:theme xmlns:a="http://schemas.openxmlformats.org/drawingml/2006/main" name="Универсальные блоки - таблицы, рисунки, диаграммы">
  <a:themeElements>
    <a:clrScheme name="Палитра ГУАП">
      <a:dk1>
        <a:srgbClr val="242834"/>
      </a:dk1>
      <a:lt1>
        <a:srgbClr val="FFFFFF"/>
      </a:lt1>
      <a:dk2>
        <a:srgbClr val="002C5F"/>
      </a:dk2>
      <a:lt2>
        <a:srgbClr val="FFFFFF"/>
      </a:lt2>
      <a:accent1>
        <a:srgbClr val="005AAA"/>
      </a:accent1>
      <a:accent2>
        <a:srgbClr val="E70F47"/>
      </a:accent2>
      <a:accent3>
        <a:srgbClr val="00BEF3"/>
      </a:accent3>
      <a:accent4>
        <a:srgbClr val="9269C9"/>
      </a:accent4>
      <a:accent5>
        <a:srgbClr val="FF6418"/>
      </a:accent5>
      <a:accent6>
        <a:srgbClr val="009A49"/>
      </a:accent6>
      <a:hlink>
        <a:srgbClr val="4E41CC"/>
      </a:hlink>
      <a:folHlink>
        <a:srgbClr val="D65D86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16200000" scaled="1"/>
          <a:tileRect/>
        </a:gradFill>
        <a:ln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000" dirty="0">
            <a:solidFill>
              <a:schemeClr val="tx2"/>
            </a:solidFill>
          </a:defRPr>
        </a:defPPr>
      </a:lstStyle>
      <a:style>
        <a:lnRef idx="1">
          <a:schemeClr val="accent1"/>
        </a:lnRef>
        <a:fillRef idx="2">
          <a:schemeClr val="accent1"/>
        </a:fillRef>
        <a:effectRef idx="1">
          <a:schemeClr val="accent1"/>
        </a:effectRef>
        <a:fontRef idx="minor">
          <a:schemeClr val="dk1"/>
        </a:fontRef>
      </a:style>
    </a:spDef>
  </a:objectDefaults>
  <a:extraClrSchemeLst/>
  <a:extLst>
    <a:ext uri="{05A4C25C-085E-4340-85A3-A5531E510DB2}">
      <thm15:themeFamily xmlns:thm15="http://schemas.microsoft.com/office/thememl/2012/main" name="ГУАП презентация курса.potx" id="{0DF838E0-DD05-488A-AC6B-E98ACB4C24AD}" vid="{001A831C-BEEC-4D03-A706-230513593B8E}"/>
    </a:ext>
  </a:extLst>
</a:theme>
</file>

<file path=ppt/theme/theme4.xml><?xml version="1.0" encoding="utf-8"?>
<a:theme xmlns:a="http://schemas.openxmlformats.org/drawingml/2006/main" name="Дополнительные блоки">
  <a:themeElements>
    <a:clrScheme name="Палитра ГУАП">
      <a:dk1>
        <a:srgbClr val="242834"/>
      </a:dk1>
      <a:lt1>
        <a:srgbClr val="FFFFFF"/>
      </a:lt1>
      <a:dk2>
        <a:srgbClr val="002C5F"/>
      </a:dk2>
      <a:lt2>
        <a:srgbClr val="FFFFFF"/>
      </a:lt2>
      <a:accent1>
        <a:srgbClr val="005AAA"/>
      </a:accent1>
      <a:accent2>
        <a:srgbClr val="E70F47"/>
      </a:accent2>
      <a:accent3>
        <a:srgbClr val="00BEF3"/>
      </a:accent3>
      <a:accent4>
        <a:srgbClr val="9269C9"/>
      </a:accent4>
      <a:accent5>
        <a:srgbClr val="FF6418"/>
      </a:accent5>
      <a:accent6>
        <a:srgbClr val="009A49"/>
      </a:accent6>
      <a:hlink>
        <a:srgbClr val="4E41CC"/>
      </a:hlink>
      <a:folHlink>
        <a:srgbClr val="D65D86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16200000" scaled="1"/>
          <a:tileRect/>
        </a:gradFill>
        <a:ln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000" dirty="0">
            <a:solidFill>
              <a:schemeClr val="tx2"/>
            </a:solidFill>
          </a:defRPr>
        </a:defPPr>
      </a:lstStyle>
      <a:style>
        <a:lnRef idx="1">
          <a:schemeClr val="accent1"/>
        </a:lnRef>
        <a:fillRef idx="2">
          <a:schemeClr val="accent1"/>
        </a:fillRef>
        <a:effectRef idx="1">
          <a:schemeClr val="accent1"/>
        </a:effectRef>
        <a:fontRef idx="minor">
          <a:schemeClr val="dk1"/>
        </a:fontRef>
      </a:style>
    </a:spDef>
  </a:objectDefaults>
  <a:extraClrSchemeLst/>
  <a:extLst>
    <a:ext uri="{05A4C25C-085E-4340-85A3-A5531E510DB2}">
      <thm15:themeFamily xmlns:thm15="http://schemas.microsoft.com/office/thememl/2012/main" name="ГУАП презентация курса.potx" id="{0DF838E0-DD05-488A-AC6B-E98ACB4C24AD}" vid="{AFBC0B84-8B15-49D7-9C5E-B813409B8E8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ГУАП презентация курса - шаблон</Template>
  <TotalTime>2</TotalTime>
  <Words>1643</Words>
  <Application>Microsoft Office PowerPoint</Application>
  <PresentationFormat>Широкоэкранный</PresentationFormat>
  <Paragraphs>176</Paragraphs>
  <Slides>29</Slides>
  <Notes>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4</vt:i4>
      </vt:variant>
      <vt:variant>
        <vt:lpstr>Заголовки слайдов</vt:lpstr>
      </vt:variant>
      <vt:variant>
        <vt:i4>29</vt:i4>
      </vt:variant>
    </vt:vector>
  </HeadingPairs>
  <TitlesOfParts>
    <vt:vector size="36" baseType="lpstr">
      <vt:lpstr>Calibri</vt:lpstr>
      <vt:lpstr>Wingdings</vt:lpstr>
      <vt:lpstr>Arial</vt:lpstr>
      <vt:lpstr>Титульная страница</vt:lpstr>
      <vt:lpstr>Текстовые блоки</vt:lpstr>
      <vt:lpstr>Универсальные блоки - таблицы, рисунки, диаграммы</vt:lpstr>
      <vt:lpstr>Дополнительные блоки</vt:lpstr>
      <vt:lpstr>Фирменный стиль  презентаций</vt:lpstr>
      <vt:lpstr>Основные правила: направляющие, стили</vt:lpstr>
      <vt:lpstr>Основные правила: макеты и цветовая палитра</vt:lpstr>
      <vt:lpstr>Основные правила: текстовые стили</vt:lpstr>
      <vt:lpstr>Основные правила: текстовые стили</vt:lpstr>
      <vt:lpstr>Основные правила: таблицы</vt:lpstr>
      <vt:lpstr>Основные правила: изображения</vt:lpstr>
      <vt:lpstr>Пример использования  макетов шаблона</vt:lpstr>
      <vt:lpstr>Заголовок презентации</vt:lpstr>
      <vt:lpstr>Текст – один блок</vt:lpstr>
      <vt:lpstr>Текст – два блока</vt:lpstr>
      <vt:lpstr>Текст – два блока (с рамкой)</vt:lpstr>
      <vt:lpstr>Текст – две колонки в одном блоке</vt:lpstr>
      <vt:lpstr>Содержимое слайда в одной колонке (универсальный блок)</vt:lpstr>
      <vt:lpstr>Содержимое слайда в одной колонке с заголовком (универсальный блок)</vt:lpstr>
      <vt:lpstr>Содержимое слайда в двух колонках с заголовками (универсальный блок)</vt:lpstr>
      <vt:lpstr>Текст и диаграмма в двух колонках (универсальный блок)</vt:lpstr>
      <vt:lpstr>Текст и рисунок в двух колонках (универсальный блок)</vt:lpstr>
      <vt:lpstr>Схема с использованием базового набора фигур  (см. Дополнительные материалы, слайд 26)</vt:lpstr>
      <vt:lpstr>Здание ГУАП со стороны реки Мойки</vt:lpstr>
      <vt:lpstr>Презентация PowerPoint</vt:lpstr>
      <vt:lpstr>Презентация PowerPoint</vt:lpstr>
      <vt:lpstr>Дополнительные  материалы </vt:lpstr>
      <vt:lpstr>Иконки подразделений. Фирменный цвет подразделений</vt:lpstr>
      <vt:lpstr>Иконки подразделений. Цветовая палитра ГУАП</vt:lpstr>
      <vt:lpstr>Базовый набор фигур *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Фирменный стиль  презентаций</dc:title>
  <dc:subject/>
  <dc:creator>Алексей Малышев</dc:creator>
  <cp:keywords/>
  <dc:description/>
  <cp:lastModifiedBy>Алексей Малышев</cp:lastModifiedBy>
  <cp:revision>2</cp:revision>
  <dcterms:created xsi:type="dcterms:W3CDTF">2023-06-16T08:15:39Z</dcterms:created>
  <dcterms:modified xsi:type="dcterms:W3CDTF">2023-06-16T08:17:59Z</dcterms:modified>
  <cp:category/>
</cp:coreProperties>
</file>