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50800" y="4568400"/>
            <a:ext cx="6330600" cy="84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6330600" cy="84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3089160" cy="84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794760" y="4568400"/>
            <a:ext cx="3089160" cy="84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50800" y="2509560"/>
            <a:ext cx="805140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794760" y="4568400"/>
            <a:ext cx="3089160" cy="84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50800" y="500796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3089160" cy="84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794760" y="456840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794760" y="500796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794760" y="456840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50800" y="5007960"/>
            <a:ext cx="633060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633060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50800" y="5007960"/>
            <a:ext cx="633060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794760" y="456840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50800" y="500796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794760" y="5007960"/>
            <a:ext cx="308916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203832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691360" y="4568400"/>
            <a:ext cx="203832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831920" y="4568400"/>
            <a:ext cx="203832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50800" y="5007960"/>
            <a:ext cx="203832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691360" y="5007960"/>
            <a:ext cx="203832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831920" y="5007960"/>
            <a:ext cx="2038320" cy="40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Прямоугольник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" name="Рисунок 7" descr=""/>
          <p:cNvPicPr/>
          <p:nvPr/>
        </p:nvPicPr>
        <p:blipFill>
          <a:blip r:embed="rId3"/>
          <a:srcRect l="0" t="0" r="56155" b="0"/>
          <a:stretch/>
        </p:blipFill>
        <p:spPr>
          <a:xfrm>
            <a:off x="550800" y="304200"/>
            <a:ext cx="2827080" cy="10951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Обра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зец 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загол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овка</a:t>
            </a:r>
            <a:endParaRPr b="0" lang="ru-RU" sz="36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50800" y="4568400"/>
            <a:ext cx="6330600" cy="84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242834"/>
                </a:solidFill>
                <a:latin typeface="Arial"/>
              </a:rPr>
              <a:t>Имя Фамилия </a:t>
            </a:r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152560" y="5994000"/>
            <a:ext cx="3488040" cy="38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e70f47"/>
                </a:solidFill>
                <a:latin typeface="Arial"/>
              </a:rPr>
              <a:t>Дата</a:t>
            </a:r>
            <a:endParaRPr b="0" lang="ru-RU" sz="32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50800" y="2509560"/>
            <a:ext cx="805140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Экс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пер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тна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я 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оце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нка</a:t>
            </a:r>
            <a:br>
              <a:rPr sz="3600"/>
            </a:b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сер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вис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ов 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дос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тавк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и 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еды</a:t>
            </a:r>
            <a:br>
              <a:rPr sz="3600"/>
            </a:b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и 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фак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тор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ный 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ана</a:t>
            </a:r>
            <a:r>
              <a:rPr b="0" lang="ru-RU" sz="3600" spc="-1" strike="noStrike">
                <a:solidFill>
                  <a:srgbClr val="005aaa"/>
                </a:solidFill>
                <a:latin typeface="Arial"/>
              </a:rPr>
              <a:t>лиз</a:t>
            </a:r>
            <a:endParaRPr b="0" lang="ru-RU" sz="36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50800" y="4568400"/>
            <a:ext cx="6330600" cy="84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242834"/>
                </a:solidFill>
                <a:latin typeface="Arial"/>
              </a:rPr>
              <a:t>Практическая работа № 3</a:t>
            </a:r>
            <a:br>
              <a:rPr sz="1800"/>
            </a:br>
            <a:r>
              <a:rPr b="0" lang="ru-RU" sz="1800" spc="-1" strike="noStrike">
                <a:solidFill>
                  <a:srgbClr val="242834"/>
                </a:solidFill>
                <a:latin typeface="Arial"/>
              </a:rPr>
              <a:t>Группа 4414: Моисеев Григорий, Герасименко Вадим, </a:t>
            </a:r>
            <a:r>
              <a:rPr b="0" lang="ru-RU" sz="1800" spc="-1" strike="noStrike">
                <a:solidFill>
                  <a:srgbClr val="242834"/>
                </a:solidFill>
                <a:latin typeface="Arial"/>
              </a:rPr>
              <a:t>Куприянов Егор</a:t>
            </a:r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8152560" y="5994000"/>
            <a:ext cx="3488040" cy="38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242834"/>
                </a:solidFill>
                <a:latin typeface="Arial"/>
              </a:rPr>
              <a:t>2026</a:t>
            </a:r>
            <a:endParaRPr b="0" lang="ru-RU" sz="1800" spc="-1" strike="noStrike">
              <a:solidFill>
                <a:srgbClr val="242834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02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Замысел исследования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8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Что именно изучалось, на каких данных и какими методами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49" name="Rounded Rectangle 6"/>
          <p:cNvSpPr/>
          <p:nvPr/>
        </p:nvSpPr>
        <p:spPr>
          <a:xfrm>
            <a:off x="777240" y="1143000"/>
            <a:ext cx="3154320" cy="14169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7"/>
          <p:cNvSpPr/>
          <p:nvPr/>
        </p:nvSpPr>
        <p:spPr>
          <a:xfrm>
            <a:off x="905400" y="1252800"/>
            <a:ext cx="289836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Объект исследования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Пять сервисов доставки еды: Яндекс Еда, Самокат, Delivery Club, Купер и Ozon Fresh.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51" name="Rounded Rectangle 8"/>
          <p:cNvSpPr/>
          <p:nvPr/>
        </p:nvSpPr>
        <p:spPr>
          <a:xfrm>
            <a:off x="4069080" y="1143000"/>
            <a:ext cx="3154320" cy="1416960"/>
          </a:xfrm>
          <a:prstGeom prst="roundRect">
            <a:avLst>
              <a:gd name="adj" fmla="val 16667"/>
            </a:avLst>
          </a:prstGeom>
          <a:solidFill>
            <a:srgbClr val="f9fafc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9"/>
          <p:cNvSpPr/>
          <p:nvPr/>
        </p:nvSpPr>
        <p:spPr>
          <a:xfrm>
            <a:off x="4197240" y="1252800"/>
            <a:ext cx="289836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Исходные данные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60 анкет студентов потока 4414–4417; для каждого сервиса собраны оценки цены, скорости и качества.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53" name="Rounded Rectangle 10"/>
          <p:cNvSpPr/>
          <p:nvPr/>
        </p:nvSpPr>
        <p:spPr>
          <a:xfrm>
            <a:off x="7360920" y="1143000"/>
            <a:ext cx="3977280" cy="14169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11"/>
          <p:cNvSpPr/>
          <p:nvPr/>
        </p:nvSpPr>
        <p:spPr>
          <a:xfrm>
            <a:off x="7489080" y="1252800"/>
            <a:ext cx="372132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Методы анализа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Описательная статистика, факторный анализ (PCA + varimax), критерий Фридмана, коэффициент конкордации и OLS-регрессия.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868680" y="2953440"/>
            <a:ext cx="3200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0e3865"/>
                </a:solidFill>
                <a:latin typeface="Arial"/>
              </a:rPr>
              <a:t>Что хотим получить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3"/>
          <p:cNvSpPr/>
          <p:nvPr/>
        </p:nvSpPr>
        <p:spPr>
          <a:xfrm>
            <a:off x="914400" y="3383280"/>
            <a:ext cx="4571640" cy="15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80" spc="-1" strike="noStrike">
                <a:solidFill>
                  <a:srgbClr val="1f2937"/>
                </a:solidFill>
                <a:latin typeface="Arial"/>
              </a:rPr>
              <a:t>понять, какие сервисы студенты оценивают выше;</a:t>
            </a:r>
            <a:endParaRPr b="0" lang="en-US" sz="148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80" spc="-1" strike="noStrike">
                <a:solidFill>
                  <a:srgbClr val="1f2937"/>
                </a:solidFill>
                <a:latin typeface="Arial"/>
              </a:rPr>
              <a:t>показать, за счёт каких факторов оценки расходятся;</a:t>
            </a:r>
            <a:endParaRPr b="0" lang="en-US" sz="148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80" spc="-1" strike="noStrike">
                <a:solidFill>
                  <a:srgbClr val="1f2937"/>
                </a:solidFill>
                <a:latin typeface="Arial"/>
              </a:rPr>
              <a:t>объяснить, от чего зависит готовность рекомендовать сервис.</a:t>
            </a:r>
            <a:endParaRPr b="0" lang="en-US" sz="1480" spc="-1" strike="noStrike">
              <a:latin typeface="Arial"/>
            </a:endParaRPr>
          </a:p>
        </p:txBody>
      </p:sp>
      <p:pic>
        <p:nvPicPr>
          <p:cNvPr id="57" name="Picture 14" descr="integral_scores_ranked.png"/>
          <p:cNvPicPr/>
          <p:nvPr/>
        </p:nvPicPr>
        <p:blipFill>
          <a:blip r:embed="rId1"/>
          <a:stretch/>
        </p:blipFill>
        <p:spPr>
          <a:xfrm>
            <a:off x="5989320" y="2898720"/>
            <a:ext cx="4891680" cy="2660040"/>
          </a:xfrm>
          <a:prstGeom prst="rect">
            <a:avLst/>
          </a:prstGeom>
          <a:ln w="0">
            <a:noFill/>
          </a:ln>
        </p:spPr>
      </p:pic>
      <p:sp>
        <p:nvSpPr>
          <p:cNvPr id="58" name="TextBox 15"/>
          <p:cNvSpPr/>
          <p:nvPr/>
        </p:nvSpPr>
        <p:spPr>
          <a:xfrm>
            <a:off x="6080760" y="5715000"/>
            <a:ext cx="4663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606b7b"/>
                </a:solidFill>
                <a:latin typeface="Arial"/>
              </a:rPr>
              <a:t>Интегральный рейтинг нужен как старт, но он не объясняет причин различий — это делают последующие слайды.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03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Портрет выборки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Большинство участников знакомо с доставкой на практике, но интенсивность использования различается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685800" y="960120"/>
            <a:ext cx="1096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200" spc="-1" strike="noStrike">
                <a:solidFill>
                  <a:srgbClr val="0e3865"/>
                </a:solidFill>
                <a:latin typeface="Arial"/>
              </a:rPr>
              <a:t>60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658440" y="1298520"/>
            <a:ext cx="1151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анкет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1965960" y="960120"/>
            <a:ext cx="1096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200" spc="-1" strike="noStrike">
                <a:solidFill>
                  <a:srgbClr val="2c5aa0"/>
                </a:solidFill>
                <a:latin typeface="Arial"/>
              </a:rPr>
              <a:t>57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1938600" y="1298520"/>
            <a:ext cx="1151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пользовались</a:t>
            </a:r>
            <a:br>
              <a:rPr sz="1800"/>
            </a:b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за 3 месяца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74720" y="960120"/>
            <a:ext cx="1096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200" spc="-1" strike="noStrike">
                <a:solidFill>
                  <a:srgbClr val="f28e2b"/>
                </a:solidFill>
                <a:latin typeface="Arial"/>
              </a:rPr>
              <a:t>3 002 ₽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3429000" y="1600200"/>
            <a:ext cx="1151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средние</a:t>
            </a:r>
            <a:br>
              <a:rPr sz="1800"/>
            </a:b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расходы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5074920" y="960120"/>
            <a:ext cx="1096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200" spc="-1" strike="noStrike">
                <a:solidFill>
                  <a:srgbClr val="43925f"/>
                </a:solidFill>
                <a:latin typeface="Arial"/>
              </a:rPr>
              <a:t>1 950 ₽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5029200" y="1600200"/>
            <a:ext cx="1151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медианные</a:t>
            </a:r>
            <a:br>
              <a:rPr sz="1800"/>
            </a:b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расходы</a:t>
            </a:r>
            <a:endParaRPr b="0" lang="en-US" sz="950" spc="-1" strike="noStrike">
              <a:latin typeface="Arial"/>
            </a:endParaRPr>
          </a:p>
        </p:txBody>
      </p:sp>
      <p:pic>
        <p:nvPicPr>
          <p:cNvPr id="72" name="Picture 14" descr="usage_frequency_bar.png"/>
          <p:cNvPicPr/>
          <p:nvPr/>
        </p:nvPicPr>
        <p:blipFill>
          <a:blip r:embed="rId1"/>
          <a:stretch/>
        </p:blipFill>
        <p:spPr>
          <a:xfrm>
            <a:off x="731520" y="2611440"/>
            <a:ext cx="5623200" cy="2503440"/>
          </a:xfrm>
          <a:prstGeom prst="rect">
            <a:avLst/>
          </a:prstGeom>
          <a:ln w="0">
            <a:noFill/>
          </a:ln>
        </p:spPr>
      </p:pic>
      <p:sp>
        <p:nvSpPr>
          <p:cNvPr id="73" name="TextBox 16"/>
          <p:cNvSpPr/>
          <p:nvPr/>
        </p:nvSpPr>
        <p:spPr>
          <a:xfrm>
            <a:off x="841320" y="5998320"/>
            <a:ext cx="10149480" cy="4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240" spc="-1" strike="noStrike">
                <a:solidFill>
                  <a:srgbClr val="606b7b"/>
                </a:solidFill>
                <a:latin typeface="Arial"/>
              </a:rPr>
              <a:t>Вывод: в выборке нет только «случайных» ответов — большинство респондентов регулярно взаимодействует с доставкой и оценивает сервисы из личного опыта.</a:t>
            </a:r>
            <a:endParaRPr b="0" lang="en-US" sz="1240" spc="-1" strike="noStrike">
              <a:latin typeface="Arial"/>
            </a:endParaRPr>
          </a:p>
        </p:txBody>
      </p:sp>
      <p:pic>
        <p:nvPicPr>
          <p:cNvPr id="74" name="Picture 17" descr="favorite_service_bar.png"/>
          <p:cNvPicPr/>
          <p:nvPr/>
        </p:nvPicPr>
        <p:blipFill>
          <a:blip r:embed="rId2"/>
          <a:stretch/>
        </p:blipFill>
        <p:spPr>
          <a:xfrm>
            <a:off x="6492240" y="2595960"/>
            <a:ext cx="4663080" cy="253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04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Средние оценки сервисов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Тепловая карта позволяет увидеть, по каким критериям каждый сервис силён относительно остальных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7543800" y="1261800"/>
            <a:ext cx="3245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0e3865"/>
                </a:solidFill>
                <a:latin typeface="Arial"/>
              </a:rPr>
              <a:t>Главные наблюдения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7571160" y="1700640"/>
            <a:ext cx="3337200" cy="20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20" spc="-1" strike="noStrike">
                <a:solidFill>
                  <a:srgbClr val="1f2937"/>
                </a:solidFill>
                <a:latin typeface="Arial"/>
              </a:rPr>
              <a:t>Ozon Fresh получает лучшую оценку по цене.</a:t>
            </a:r>
            <a:endParaRPr b="0" lang="en-US" sz="142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20" spc="-1" strike="noStrike">
                <a:solidFill>
                  <a:srgbClr val="1f2937"/>
                </a:solidFill>
                <a:latin typeface="Arial"/>
              </a:rPr>
              <a:t>Самокат лидирует по скорости доставки.</a:t>
            </a:r>
            <a:endParaRPr b="0" lang="en-US" sz="142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20" spc="-1" strike="noStrike">
                <a:solidFill>
                  <a:srgbClr val="1f2937"/>
                </a:solidFill>
                <a:latin typeface="Arial"/>
              </a:rPr>
              <a:t>Яндекс Еда показывает максимум по общему качеству.</a:t>
            </a:r>
            <a:endParaRPr b="0" lang="en-US" sz="142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20" spc="-1" strike="noStrike">
                <a:solidFill>
                  <a:srgbClr val="1f2937"/>
                </a:solidFill>
                <a:latin typeface="Arial"/>
              </a:rPr>
              <a:t>Следовательно, у сервисов разные сильные стороны.</a:t>
            </a:r>
            <a:endParaRPr b="0" lang="en-US" sz="1420" spc="-1" strike="noStrike"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7571160" y="4709160"/>
            <a:ext cx="3245760" cy="9597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TextBox 10"/>
          <p:cNvSpPr/>
          <p:nvPr/>
        </p:nvSpPr>
        <p:spPr>
          <a:xfrm>
            <a:off x="7699320" y="4709160"/>
            <a:ext cx="298980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Смысл рисунка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Одна итоговая оценка скрывает различия между критериями, поэтому дальше нужен факторный анализ.</a:t>
            </a:r>
            <a:endParaRPr b="0" lang="en-US" sz="1210" spc="-1" strike="noStrike">
              <a:latin typeface="Arial"/>
            </a:endParaRPr>
          </a:p>
        </p:txBody>
      </p:sp>
      <p:pic>
        <p:nvPicPr>
          <p:cNvPr id="84" name="Picture 11" descr="service_criteria_heatmap_annotated.png"/>
          <p:cNvPicPr/>
          <p:nvPr/>
        </p:nvPicPr>
        <p:blipFill>
          <a:blip r:embed="rId1"/>
          <a:stretch/>
        </p:blipFill>
        <p:spPr>
          <a:xfrm>
            <a:off x="658440" y="1575360"/>
            <a:ext cx="6629040" cy="37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05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Факторный анализ сервисов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Разведочная факторная карта: возможные сценарии восприятия сервисов, а не строго доказанные сегменты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7013160" y="1500120"/>
            <a:ext cx="3599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000" spc="-1" strike="noStrike">
                <a:solidFill>
                  <a:srgbClr val="0e3865"/>
                </a:solidFill>
                <a:latin typeface="Arial"/>
              </a:rPr>
              <a:t>Интерпретация факторов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7013160" y="1950120"/>
            <a:ext cx="3599640" cy="18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242834"/>
                </a:solidFill>
                <a:latin typeface="Arial"/>
              </a:rPr>
              <a:t>F1 связан с Самокатом и Ozon Fresh и отражает практичный сценарий заказа.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242834"/>
                </a:solidFill>
                <a:latin typeface="Arial"/>
              </a:rPr>
              <a:t>F2 сильнее связан с Купером и Delivery Club и противопоставляется Яндекс Еде.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2" name="Rounded Rectangle 12"/>
          <p:cNvSpPr/>
          <p:nvPr/>
        </p:nvSpPr>
        <p:spPr>
          <a:xfrm>
            <a:off x="777240" y="5559480"/>
            <a:ext cx="10286640" cy="5666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13"/>
          <p:cNvSpPr/>
          <p:nvPr/>
        </p:nvSpPr>
        <p:spPr>
          <a:xfrm>
            <a:off x="960120" y="5559480"/>
            <a:ext cx="99208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70" spc="-1" strike="noStrike">
                <a:solidFill>
                  <a:srgbClr val="0e3865"/>
                </a:solidFill>
                <a:latin typeface="Arial"/>
              </a:rPr>
              <a:t>Вывод: сервисы можно условно разнести по разным сценариям использования; интерпретация факторов носит разведочный характер.</a:t>
            </a:r>
            <a:endParaRPr b="0" lang="en-US" sz="1270" spc="-1" strike="noStrike">
              <a:latin typeface="Arial"/>
            </a:endParaRPr>
          </a:p>
        </p:txBody>
      </p:sp>
      <p:pic>
        <p:nvPicPr>
          <p:cNvPr id="94" name="Picture 14" descr="object_factor_map_annotated.png"/>
          <p:cNvPicPr/>
          <p:nvPr/>
        </p:nvPicPr>
        <p:blipFill>
          <a:blip r:embed="rId1"/>
          <a:stretch/>
        </p:blipFill>
        <p:spPr>
          <a:xfrm>
            <a:off x="640080" y="1170360"/>
            <a:ext cx="5760360" cy="438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06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Факторный анализ характеристик экспертов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Важно не только то, каковы сервисы, но и кто именно их оценивает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8046720" y="1234440"/>
            <a:ext cx="274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0e3865"/>
                </a:solidFill>
                <a:latin typeface="Arial"/>
              </a:rPr>
              <a:t>Что влияет сильнее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8065080" y="1664280"/>
            <a:ext cx="290736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390" spc="-1" strike="noStrike">
                <a:solidFill>
                  <a:srgbClr val="1f2937"/>
                </a:solidFill>
                <a:latin typeface="Arial"/>
              </a:rPr>
              <a:t>F1: вовлечённость в доставку — 30,2%.</a:t>
            </a:r>
            <a:endParaRPr b="0" lang="en-US" sz="139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390" spc="-1" strike="noStrike">
                <a:solidFill>
                  <a:srgbClr val="1f2937"/>
                </a:solidFill>
                <a:latin typeface="Arial"/>
              </a:rPr>
              <a:t>F2: скорость и ассортимент — 13,1%.</a:t>
            </a:r>
            <a:endParaRPr b="0" lang="en-US" sz="139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390" spc="-1" strike="noStrike">
                <a:solidFill>
                  <a:srgbClr val="1f2937"/>
                </a:solidFill>
                <a:latin typeface="Arial"/>
              </a:rPr>
              <a:t>F3: цена, скидки и удобство — 12,6%.</a:t>
            </a:r>
            <a:endParaRPr b="0" lang="en-US" sz="139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390" spc="-1" strike="noStrike">
                <a:solidFill>
                  <a:srgbClr val="1f2937"/>
                </a:solidFill>
                <a:latin typeface="Arial"/>
              </a:rPr>
              <a:t>F4: точность времени и поддержка — 9,0%.</a:t>
            </a:r>
            <a:endParaRPr b="0" lang="en-US" sz="1390" spc="-1" strike="noStrike">
              <a:latin typeface="Arial"/>
            </a:endParaRPr>
          </a:p>
        </p:txBody>
      </p:sp>
      <p:sp>
        <p:nvSpPr>
          <p:cNvPr id="102" name="Rounded Rectangle 9"/>
          <p:cNvSpPr/>
          <p:nvPr/>
        </p:nvSpPr>
        <p:spPr>
          <a:xfrm>
            <a:off x="8046720" y="4370760"/>
            <a:ext cx="2834280" cy="1801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10"/>
          <p:cNvSpPr/>
          <p:nvPr/>
        </p:nvSpPr>
        <p:spPr>
          <a:xfrm>
            <a:off x="8183520" y="4572000"/>
            <a:ext cx="2697480" cy="14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Ключевой вывод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Самый сильный фактор — вовлечённость в доставку. Значит, различия в ответах в первую очередь задаются частотой заказов, расходами и пользовательским опытом.</a:t>
            </a:r>
            <a:endParaRPr b="0" lang="en-US" sz="1210" spc="-1" strike="noStrike">
              <a:latin typeface="Arial"/>
            </a:endParaRPr>
          </a:p>
        </p:txBody>
      </p:sp>
      <p:pic>
        <p:nvPicPr>
          <p:cNvPr id="104" name="Picture 11" descr="expert_factor_top_loadings.png"/>
          <p:cNvPicPr/>
          <p:nvPr/>
        </p:nvPicPr>
        <p:blipFill>
          <a:blip r:embed="rId1"/>
          <a:stretch/>
        </p:blipFill>
        <p:spPr>
          <a:xfrm>
            <a:off x="617040" y="1024200"/>
            <a:ext cx="7224120" cy="498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07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Согласованность экспертных оценок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Проверяем, можно ли говорить о едином мнении группы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822960" y="1097280"/>
            <a:ext cx="1462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200" spc="-1" strike="noStrike">
                <a:solidFill>
                  <a:srgbClr val="0e3865"/>
                </a:solidFill>
                <a:latin typeface="Arial"/>
              </a:rPr>
              <a:t>χ² = 33,11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795600" y="1435680"/>
            <a:ext cx="151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критерий</a:t>
            </a:r>
            <a:br>
              <a:rPr sz="1800"/>
            </a:b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Фридмана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2651760" y="1097280"/>
            <a:ext cx="1462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200" spc="-1" strike="noStrike">
                <a:solidFill>
                  <a:srgbClr val="f28e2b"/>
                </a:solidFill>
                <a:latin typeface="Arial"/>
              </a:rPr>
              <a:t>p &lt; 0,001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2624400" y="1435680"/>
            <a:ext cx="151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различия</a:t>
            </a:r>
            <a:br>
              <a:rPr sz="1800"/>
            </a:b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значимы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4480560" y="1097280"/>
            <a:ext cx="1462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200" spc="-1" strike="noStrike">
                <a:solidFill>
                  <a:srgbClr val="2c5aa0"/>
                </a:solidFill>
                <a:latin typeface="Arial"/>
              </a:rPr>
              <a:t>W = 0,138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4453200" y="1435680"/>
            <a:ext cx="151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конкордация</a:t>
            </a:r>
            <a:br>
              <a:rPr sz="1800"/>
            </a:b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в полной выборке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6492240" y="1097280"/>
            <a:ext cx="1462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200" spc="-1" strike="noStrike">
                <a:solidFill>
                  <a:srgbClr val="43925f"/>
                </a:solidFill>
                <a:latin typeface="Arial"/>
              </a:rPr>
              <a:t>W = 0,132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6464880" y="1435680"/>
            <a:ext cx="151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после проверки</a:t>
            </a:r>
            <a:br>
              <a:rPr sz="1800"/>
            </a:br>
            <a:r>
              <a:rPr b="0" lang="ru-RU" sz="950" spc="-1" strike="noStrike">
                <a:solidFill>
                  <a:srgbClr val="606b7b"/>
                </a:solidFill>
                <a:latin typeface="Arial"/>
              </a:rPr>
              <a:t>устойчивости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8" name="TextBox 15"/>
          <p:cNvSpPr/>
          <p:nvPr/>
        </p:nvSpPr>
        <p:spPr>
          <a:xfrm>
            <a:off x="6903720" y="219456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0e3865"/>
                </a:solidFill>
                <a:latin typeface="Arial"/>
              </a:rPr>
              <a:t>Что это означает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9" name="TextBox 16"/>
          <p:cNvSpPr/>
          <p:nvPr/>
        </p:nvSpPr>
        <p:spPr>
          <a:xfrm>
            <a:off x="6903720" y="2633400"/>
            <a:ext cx="3748680" cy="19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320" spc="-1" strike="noStrike">
                <a:solidFill>
                  <a:srgbClr val="242834"/>
                </a:solidFill>
                <a:latin typeface="Arial"/>
              </a:rPr>
              <a:t>Сервисы различаются статистически значимо.</a:t>
            </a:r>
            <a:endParaRPr b="0" lang="en-US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320" spc="-1" strike="noStrike">
                <a:solidFill>
                  <a:srgbClr val="242834"/>
                </a:solidFill>
                <a:latin typeface="Arial"/>
              </a:rPr>
              <a:t>Но коэффициент W невысок, поэтому полного единодушия нет.</a:t>
            </a:r>
            <a:endParaRPr b="0" lang="en-US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320" spc="-1" strike="noStrike">
                <a:solidFill>
                  <a:srgbClr val="242834"/>
                </a:solidFill>
                <a:latin typeface="Arial"/>
              </a:rPr>
              <a:t>Пост-хок Уилкоксон + Холм: Самокат значимо выше Delivery Club, Купера и Ozon Fresh.</a:t>
            </a:r>
            <a:endParaRPr b="0" lang="en-US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320" spc="-1" strike="noStrike">
                <a:solidFill>
                  <a:srgbClr val="242834"/>
                </a:solidFill>
                <a:latin typeface="Arial"/>
              </a:rPr>
              <a:t>Отличие Самоката от Яндекс Еды статистически не подтверждается.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120" name="Rounded Rectangle 17"/>
          <p:cNvSpPr/>
          <p:nvPr/>
        </p:nvSpPr>
        <p:spPr>
          <a:xfrm>
            <a:off x="6903720" y="4938120"/>
            <a:ext cx="3702960" cy="7768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18"/>
          <p:cNvSpPr/>
          <p:nvPr/>
        </p:nvSpPr>
        <p:spPr>
          <a:xfrm>
            <a:off x="6903720" y="5029200"/>
            <a:ext cx="34470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300" spc="-1" strike="noStrike">
                <a:solidFill>
                  <a:srgbClr val="242834"/>
                </a:solidFill>
                <a:latin typeface="Arial"/>
              </a:rPr>
              <a:t>Вывод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300" spc="-1" strike="noStrike">
                <a:solidFill>
                  <a:srgbClr val="242834"/>
                </a:solidFill>
                <a:latin typeface="Arial"/>
              </a:rPr>
              <a:t>Рейтинг — усреднённая тенденция, а не полный экспертный консенсус.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22" name="Picture 19" descr="mean_ranks_bar.png"/>
          <p:cNvPicPr/>
          <p:nvPr/>
        </p:nvPicPr>
        <p:blipFill>
          <a:blip r:embed="rId1"/>
          <a:stretch/>
        </p:blipFill>
        <p:spPr>
          <a:xfrm>
            <a:off x="749880" y="2379240"/>
            <a:ext cx="5851800" cy="30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08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Регрессионная модель: постановка задачи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Важно явно показать целевую переменную, источник данных и проверку качества модели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128" name="Rounded Rectangle 6"/>
          <p:cNvSpPr/>
          <p:nvPr/>
        </p:nvSpPr>
        <p:spPr>
          <a:xfrm>
            <a:off x="731520" y="111564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TextBox 7"/>
          <p:cNvSpPr/>
          <p:nvPr/>
        </p:nvSpPr>
        <p:spPr>
          <a:xfrm>
            <a:off x="859680" y="1225440"/>
            <a:ext cx="303552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Целевая переменная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Готовность рекомендовать чаще используемый сервис другим студентам (шкала от 1 до 10).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130" name="Rounded Rectangle 8"/>
          <p:cNvSpPr/>
          <p:nvPr/>
        </p:nvSpPr>
        <p:spPr>
          <a:xfrm>
            <a:off x="4187880" y="111564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f9fafc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9"/>
          <p:cNvSpPr/>
          <p:nvPr/>
        </p:nvSpPr>
        <p:spPr>
          <a:xfrm>
            <a:off x="4316040" y="1225440"/>
            <a:ext cx="303552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Откуда данные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Признаки берутся из объединённой таблицы ответов: оценка сервиса, частота заказов, расходы, сравнение цен и важность критериев выбора.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132" name="Rounded Rectangle 10"/>
          <p:cNvSpPr/>
          <p:nvPr/>
        </p:nvSpPr>
        <p:spPr>
          <a:xfrm>
            <a:off x="7644240" y="111564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11"/>
          <p:cNvSpPr/>
          <p:nvPr/>
        </p:nvSpPr>
        <p:spPr>
          <a:xfrm>
            <a:off x="7772400" y="1225440"/>
            <a:ext cx="303552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Как проверяли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OLS-оценивание; анализ R², F-статистики, t-статистик, p-value и графика фактических и предсказанных значений.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134" name="TextBox 13"/>
          <p:cNvSpPr/>
          <p:nvPr/>
        </p:nvSpPr>
        <p:spPr>
          <a:xfrm>
            <a:off x="5897880" y="2907720"/>
            <a:ext cx="475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0e3865"/>
                </a:solidFill>
                <a:latin typeface="Arial"/>
              </a:rPr>
              <a:t>Почему график важен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" name="TextBox 14"/>
          <p:cNvSpPr/>
          <p:nvPr/>
        </p:nvSpPr>
        <p:spPr>
          <a:xfrm>
            <a:off x="5897880" y="3328560"/>
            <a:ext cx="48916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340" spc="-1" strike="noStrike">
                <a:solidFill>
                  <a:srgbClr val="242834"/>
                </a:solidFill>
                <a:latin typeface="Arial"/>
              </a:rPr>
              <a:t>Чем ближе точки к диагонали, тем лучше модель описывает данные. Здесь модель улавливает общий уровень, но остаётся объяснительной, а не прогнозной.</a:t>
            </a:r>
            <a:endParaRPr b="0" lang="en-US" sz="134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340" spc="-1" strike="noStrike">
                <a:solidFill>
                  <a:srgbClr val="242834"/>
                </a:solidFill>
                <a:latin typeface="Arial"/>
              </a:rPr>
              <a:t>R² = 0,636; RMSE = 1,18; MAE = 0,92.</a:t>
            </a:r>
            <a:endParaRPr b="0" lang="en-US" sz="1340" spc="-1" strike="noStrike">
              <a:latin typeface="Arial"/>
            </a:endParaRPr>
          </a:p>
        </p:txBody>
      </p:sp>
      <p:pic>
        <p:nvPicPr>
          <p:cNvPr id="136" name="Picture 15" descr="regression_actual_vs_predicted_annotated.png"/>
          <p:cNvPicPr/>
          <p:nvPr/>
        </p:nvPicPr>
        <p:blipFill>
          <a:blip r:embed="rId1"/>
          <a:stretch/>
        </p:blipFill>
        <p:spPr>
          <a:xfrm>
            <a:off x="1143000" y="2743200"/>
            <a:ext cx="4077720" cy="28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09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Регрессионная модель: интерпретация коэффициентов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Смотрим, какие факторы действительно связаны с готовностью рекомендовать сервис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8183880" y="1234440"/>
            <a:ext cx="2697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0e3865"/>
                </a:solidFill>
                <a:latin typeface="Arial"/>
              </a:rPr>
              <a:t>Значимые факторы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8211240" y="1673280"/>
            <a:ext cx="2834280" cy="15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20" spc="-1" strike="noStrike">
                <a:solidFill>
                  <a:srgbClr val="1f2937"/>
                </a:solidFill>
                <a:latin typeface="Arial"/>
              </a:rPr>
              <a:t>расходы на доставку: положительная связь;</a:t>
            </a:r>
            <a:endParaRPr b="0" lang="en-US" sz="142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20" spc="-1" strike="noStrike">
                <a:solidFill>
                  <a:srgbClr val="1f2937"/>
                </a:solidFill>
                <a:latin typeface="Arial"/>
              </a:rPr>
              <a:t>сравнение цен: положительная связь;</a:t>
            </a:r>
            <a:endParaRPr b="0" lang="en-US" sz="142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ru-RU" sz="1420" spc="-1" strike="noStrike">
                <a:solidFill>
                  <a:srgbClr val="1f2937"/>
                </a:solidFill>
                <a:latin typeface="Arial"/>
              </a:rPr>
              <a:t>важность цены: отрицательная связь.</a:t>
            </a:r>
            <a:endParaRPr b="0" lang="en-US" sz="1420" spc="-1" strike="noStrike">
              <a:latin typeface="Arial"/>
            </a:endParaRPr>
          </a:p>
        </p:txBody>
      </p:sp>
      <p:sp>
        <p:nvSpPr>
          <p:cNvPr id="144" name="Rounded Rectangle 9"/>
          <p:cNvSpPr/>
          <p:nvPr/>
        </p:nvSpPr>
        <p:spPr>
          <a:xfrm>
            <a:off x="7899840" y="4443840"/>
            <a:ext cx="3299760" cy="14997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TextBox 10"/>
          <p:cNvSpPr/>
          <p:nvPr/>
        </p:nvSpPr>
        <p:spPr>
          <a:xfrm>
            <a:off x="8001000" y="4443840"/>
            <a:ext cx="297972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242834"/>
                </a:solidFill>
                <a:latin typeface="Arial"/>
              </a:rPr>
              <a:t>Итог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300" spc="-1" strike="noStrike">
                <a:solidFill>
                  <a:srgbClr val="242834"/>
                </a:solidFill>
                <a:latin typeface="Arial"/>
              </a:rPr>
              <a:t>Чем выше расходы и чаще сравнение цен, тем выше готовность рекомендовать.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300" spc="-1" strike="noStrike">
                <a:solidFill>
                  <a:srgbClr val="242834"/>
                </a:solidFill>
                <a:latin typeface="Arial"/>
              </a:rPr>
              <a:t>Высокая чувствительность к цене снижает лояльность.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46" name="Picture 11" descr="regression_coefficients_ci.png"/>
          <p:cNvPicPr/>
          <p:nvPr/>
        </p:nvPicPr>
        <p:blipFill>
          <a:blip r:embed="rId1"/>
          <a:stretch/>
        </p:blipFill>
        <p:spPr>
          <a:xfrm>
            <a:off x="658440" y="1270440"/>
            <a:ext cx="7269120" cy="453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Rectangle 2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0e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TextBox 3"/>
          <p:cNvSpPr/>
          <p:nvPr/>
        </p:nvSpPr>
        <p:spPr>
          <a:xfrm>
            <a:off x="411480" y="210240"/>
            <a:ext cx="59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f28e2b"/>
                </a:solidFill>
                <a:latin typeface="Arial"/>
              </a:rPr>
              <a:t>10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841320" y="182880"/>
            <a:ext cx="896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e3865"/>
                </a:solidFill>
                <a:latin typeface="Arial"/>
              </a:rPr>
              <a:t>Итоговые выводы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859680" y="576000"/>
            <a:ext cx="10149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160" spc="-1" strike="noStrike">
                <a:solidFill>
                  <a:srgbClr val="606b7b"/>
                </a:solidFill>
                <a:latin typeface="Arial"/>
              </a:rPr>
              <a:t>Краткое резюме всей работы в трёх содержательных тезисах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152" name="Rounded Rectangle 6"/>
          <p:cNvSpPr/>
          <p:nvPr/>
        </p:nvSpPr>
        <p:spPr>
          <a:xfrm>
            <a:off x="822960" y="1234440"/>
            <a:ext cx="3154320" cy="18741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TextBox 7"/>
          <p:cNvSpPr/>
          <p:nvPr/>
        </p:nvSpPr>
        <p:spPr>
          <a:xfrm>
            <a:off x="951120" y="1344240"/>
            <a:ext cx="2898360" cy="14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1. Кто выглядит сильнее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Самокат — лидер по интегральной оценке и среднему рангу; Яндекс Еда выделяется по качеству и как наиболее привычный сервис; Ozon Fresh лучше воспринимается по цене.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154" name="Rounded Rectangle 8"/>
          <p:cNvSpPr/>
          <p:nvPr/>
        </p:nvSpPr>
        <p:spPr>
          <a:xfrm>
            <a:off x="4206240" y="1234440"/>
            <a:ext cx="3154320" cy="1874160"/>
          </a:xfrm>
          <a:prstGeom prst="roundRect">
            <a:avLst>
              <a:gd name="adj" fmla="val 16667"/>
            </a:avLst>
          </a:prstGeom>
          <a:solidFill>
            <a:srgbClr val="f9fafc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TextBox 9"/>
          <p:cNvSpPr/>
          <p:nvPr/>
        </p:nvSpPr>
        <p:spPr>
          <a:xfrm>
            <a:off x="4334400" y="1344240"/>
            <a:ext cx="2898360" cy="12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2. Почему оценки расходятся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Сервисы сильны в разных сценариях, а сами респонденты отличаются по уровню вовлечённости, бюджету и критериям выбора.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156" name="Rounded Rectangle 10"/>
          <p:cNvSpPr/>
          <p:nvPr/>
        </p:nvSpPr>
        <p:spPr>
          <a:xfrm>
            <a:off x="7589520" y="1234440"/>
            <a:ext cx="3154320" cy="18741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TextBox 11"/>
          <p:cNvSpPr/>
          <p:nvPr/>
        </p:nvSpPr>
        <p:spPr>
          <a:xfrm>
            <a:off x="7717680" y="1344240"/>
            <a:ext cx="289836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380" spc="-1" strike="noStrike">
                <a:solidFill>
                  <a:srgbClr val="0e3865"/>
                </a:solidFill>
                <a:latin typeface="Arial"/>
              </a:rPr>
              <a:t>3. Что показала модель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ru-RU" sz="1210" spc="-1" strike="noStrike">
                <a:solidFill>
                  <a:srgbClr val="1f2937"/>
                </a:solidFill>
                <a:latin typeface="Arial"/>
              </a:rPr>
              <a:t>Готовность рекомендовать сервис определяется не только общей оценкой, но и экономическим поведением пользователя.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1005840" y="3794760"/>
            <a:ext cx="9829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000" spc="-1" strike="noStrike">
                <a:solidFill>
                  <a:srgbClr val="0e3865"/>
                </a:solidFill>
                <a:latin typeface="Arial"/>
              </a:rPr>
              <a:t>Общий вывод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9" name="TextBox 13"/>
          <p:cNvSpPr/>
          <p:nvPr/>
        </p:nvSpPr>
        <p:spPr>
          <a:xfrm>
            <a:off x="1005840" y="4224600"/>
            <a:ext cx="982944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560" spc="-1" strike="noStrike">
                <a:solidFill>
                  <a:srgbClr val="1f2937"/>
                </a:solidFill>
                <a:latin typeface="Arial"/>
              </a:rPr>
              <a:t>Для студентов «лучший» сервис — не универсальный лидер, а сервис, который лучше решает конкретную задачу: быстро доставить, дать выгодное предложение или обеспечить привычный и надёжный пользовательский опыт.</a:t>
            </a:r>
            <a:endParaRPr b="0" lang="en-US" sz="1560" spc="-1" strike="noStrike">
              <a:latin typeface="Arial"/>
            </a:endParaRPr>
          </a:p>
        </p:txBody>
      </p:sp>
      <p:sp>
        <p:nvSpPr>
          <p:cNvPr id="160" name="Rectangle 14"/>
          <p:cNvSpPr/>
          <p:nvPr/>
        </p:nvSpPr>
        <p:spPr>
          <a:xfrm>
            <a:off x="1417320" y="5394960"/>
            <a:ext cx="9006480" cy="180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TextBox 15"/>
          <p:cNvSpPr/>
          <p:nvPr/>
        </p:nvSpPr>
        <p:spPr>
          <a:xfrm>
            <a:off x="1005840" y="5532120"/>
            <a:ext cx="9829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000" spc="-1" strike="noStrike">
                <a:solidFill>
                  <a:srgbClr val="f28e2b"/>
                </a:solidFill>
                <a:latin typeface="Arial"/>
              </a:rPr>
              <a:t>Спасибо за внимание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4</TotalTime>
  <Application>LibreOffice/7.3.7.2$Linux_X86_64 LibreOffice_project/30$Build-2</Application>
  <AppVersion>15.0000</AppVersion>
  <Words>1643</Words>
  <Paragraphs>176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2023-06-16T08:15:39Z</dcterms:created>
  <dc:creator>Алексей Малышев</dc:creator>
  <dc:description/>
  <dc:language>en-US</dc:language>
  <cp:lastModifiedBy/>
  <dcterms:modified xsi:type="dcterms:W3CDTF">2026-05-13T02:27:25Z</dcterms:modified>
  <cp:revision>5</cp:revision>
  <dc:subject/>
  <dc:title>Фирменный стиль  презентаций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29</vt:i4>
  </property>
</Properties>
</file>