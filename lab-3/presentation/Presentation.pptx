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685800"/>
            <a:ext cx="47548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Факторный анализ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экспертная оценка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сервисов доставки еды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Практическая работа №3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586984" y="832104"/>
            <a:ext cx="5422392" cy="35935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mnt/data/fix2/lab-3/assets/service_criteria_grouped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200410"/>
            <a:ext cx="5349240" cy="28569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47731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03504" y="5257800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респондентов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47731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450592" y="5257800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сервисов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51960" y="47731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215384" y="5257800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опроса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 исследования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связанных опроса и единая база для анализа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 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сервисов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- скорость - качество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1874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 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0" y="2331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характеристики экспертов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важность факторов выбора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321040" y="1874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21040" y="23317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факторы, согласованность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регрессионная модель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840480"/>
            <a:ext cx="10058400" cy="0"/>
          </a:xfrm>
          <a:prstGeom prst="line">
            <a:avLst/>
          </a:prstGeom>
          <a:noFill/>
          <a:ln w="15240">
            <a:solidFill>
              <a:srgbClr val="D8D0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34340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77824" y="4828032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анкет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71800" y="434340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935224" y="4828032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пропусков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0" y="434340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992624" y="4828032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шкала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86600" y="434340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050024" y="4828032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 доставки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44000" y="434340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4414-4417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107424" y="4828032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поток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Выборка и поведение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респонденты похожи по возрасту, но различаются по опыту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94944" y="1380744"/>
            <a:ext cx="3410712" cy="313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mnt/data/fix2/lab-3/assets/usage_frequency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5987"/>
            <a:ext cx="3337560" cy="182590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98264" y="1380744"/>
            <a:ext cx="3410712" cy="313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/mnt/data/fix2/lab-3/assets/favorite_service_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053000"/>
            <a:ext cx="3337560" cy="1791879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101584" y="1380744"/>
            <a:ext cx="3227832" cy="313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/mnt/data/fix2/lab-3/assets/monthly_spend_h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038936"/>
            <a:ext cx="3154680" cy="18200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4800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частота заказов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074920" y="4800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привычный сервис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8869680" y="4800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сервисов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лидерство не описывает всю картину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94944" y="1380744"/>
            <a:ext cx="5010912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mnt/data/fix2/lab-3/assets/service_criteria_grouped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8954"/>
            <a:ext cx="4937760" cy="263721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44184" y="1380744"/>
            <a:ext cx="4873752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/mnt/data/fix2/lab-3/assets/service_criteria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993392"/>
            <a:ext cx="4800600" cy="2688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5532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Самокат - скорость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480560" y="5532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Яндекс Еда - качество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046720" y="5532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Ozon Fresh - цена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Факторный анализ объектов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PCA + varimax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32104" y="1289304"/>
            <a:ext cx="5239512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mnt/data/fix2/lab-3/assets/object_factor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75509"/>
            <a:ext cx="5166360" cy="42270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29400" y="16002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фактора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629400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50,4% дисперсии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29400" y="3044952"/>
            <a:ext cx="91440" cy="91440"/>
          </a:xfrm>
          <a:prstGeom prst="ellipse">
            <a:avLst/>
          </a:prstGeom>
          <a:solidFill>
            <a:srgbClr val="1A8A84"/>
          </a:solidFill>
          <a:ln w="12700">
            <a:solidFill>
              <a:srgbClr val="1A8A84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0" y="2971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Самокат и Ozon Fresh ближе по F1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629400" y="3685032"/>
            <a:ext cx="91440" cy="91440"/>
          </a:xfrm>
          <a:prstGeom prst="ellipse">
            <a:avLst/>
          </a:prstGeom>
          <a:solidFill>
            <a:srgbClr val="D7922E"/>
          </a:solidFill>
          <a:ln w="12700">
            <a:solidFill>
              <a:srgbClr val="D7922E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0" y="36118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Купер / Delivery Club отделяются по F2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Факторы экспертов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фактор - вовлеченность в доставку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94944" y="1289304"/>
            <a:ext cx="5239512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mnt/data/fix2/lab-3/assets/expert_factor_loadings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1958"/>
            <a:ext cx="5166360" cy="39741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417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фактора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4652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64,8% дисперсии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46520" y="2816352"/>
            <a:ext cx="91440" cy="91440"/>
          </a:xfrm>
          <a:prstGeom prst="ellipse">
            <a:avLst/>
          </a:prstGeom>
          <a:solidFill>
            <a:srgbClr val="1A8A84"/>
          </a:solidFill>
          <a:ln w="12700">
            <a:solidFill>
              <a:srgbClr val="1A8A84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27432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вовлеченность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46520" y="3383280"/>
            <a:ext cx="91440" cy="9144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3310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скорость и ассортимент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46520" y="3950208"/>
            <a:ext cx="91440" cy="91440"/>
          </a:xfrm>
          <a:prstGeom prst="ellipse">
            <a:avLst/>
          </a:prstGeom>
          <a:solidFill>
            <a:srgbClr val="D7922E"/>
          </a:solidFill>
          <a:ln w="12700">
            <a:solidFill>
              <a:srgbClr val="D7922E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0" y="38770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и приложение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46520" y="4517136"/>
            <a:ext cx="91440" cy="91440"/>
          </a:xfrm>
          <a:prstGeom prst="ellipse">
            <a:avLst/>
          </a:prstGeom>
          <a:solidFill>
            <a:srgbClr val="C75C5C"/>
          </a:solidFill>
          <a:ln w="12700">
            <a:solidFill>
              <a:srgbClr val="C75C5C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поддержка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Согласованность экспертов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различия есть, но единодушие невысокое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40664" y="1380744"/>
            <a:ext cx="5330952" cy="4325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mnt/data/fix2/lab-3/assets/mean_ranks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5696"/>
            <a:ext cx="5257800" cy="30552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691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χ² = 33,11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748272" y="225856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&lt; 0,001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720840" y="3429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 0,138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748272" y="399592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удаления: W = 0,132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Регрессия рекомендации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рекомендации с поведением и факторами выбора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32104" y="1316736"/>
            <a:ext cx="50566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mnt/data/fix2/lab-3/assets/regression_actual_vs_predi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45540"/>
            <a:ext cx="4983480" cy="42961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37960" y="15087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= 0,636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565392" y="205740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&lt; 0,001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37960" y="2999232"/>
            <a:ext cx="91440" cy="91440"/>
          </a:xfrm>
          <a:prstGeom prst="ellipse">
            <a:avLst/>
          </a:prstGeom>
          <a:solidFill>
            <a:srgbClr val="1A8A84"/>
          </a:solidFill>
          <a:ln w="12700">
            <a:solidFill>
              <a:srgbClr val="1A8A84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9260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расходы на доставку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537960" y="3602736"/>
            <a:ext cx="91440" cy="9144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66560" y="35295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сравнение цен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537960" y="4206240"/>
            <a:ext cx="91440" cy="91440"/>
          </a:xfrm>
          <a:prstGeom prst="ellipse">
            <a:avLst/>
          </a:prstGeom>
          <a:solidFill>
            <a:srgbClr val="C75C5C"/>
          </a:solidFill>
          <a:ln w="12700">
            <a:solidFill>
              <a:srgbClr val="C75C5C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413308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важность цены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53796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частота заказов отдельно незначима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2286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12700">
            <a:solidFill>
              <a:srgbClr val="D8D0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Итоговая интерпретация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950976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57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показывает не только «кто лучше», но и почему оценки расходятся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51560" y="148132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91640" y="1444752"/>
            <a:ext cx="8732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Самокат лидирует по интегральной оценке и среднему рангу.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35000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313432"/>
            <a:ext cx="8732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Яндекс Еда сильна по качеству и привычности.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32186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3182112"/>
            <a:ext cx="8732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конкордация отражает разные сценарии использования.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408736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4050792"/>
            <a:ext cx="8732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 связана с вовлеченностью и экономической логикой выбора.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Практическая работа №3</dc:title>
  <dc:subject>Факторный анализ и экспертная оценка сервисов доставки еды</dc:subject>
  <dc:creator/>
  <cp:lastModifiedBy/>
  <cp:revision>1</cp:revision>
  <dcterms:created xsi:type="dcterms:W3CDTF">2026-05-01T22:43:12Z</dcterms:created>
  <dcterms:modified xsi:type="dcterms:W3CDTF">2026-05-01T22:43:12Z</dcterms:modified>
</cp:coreProperties>
</file>