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22DF974-C987-42B6-8BB9-44A4A1AA66E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47C6426-7A7D-4E76-B207-C14633619BC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549F166-613E-43F9-B082-8A445F0A90F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5D3619F-00DB-4383-A1AF-E4D4EC5C2B5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C8E2717-6376-4281-B62D-C8C64E03F5A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08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101A1C9-1272-43DB-8ABE-BEB0EA72612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26B0EF1-E3BA-4634-8A0F-02109585488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AEA8E4F-BD7B-40BE-8A6F-B9921C1FEB6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5D04C7C-7C54-4D54-B0C0-AFE5CC181DD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92C307A-636B-40F3-ABDB-66624BD6D4C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9322B18-F84A-4C92-8B06-C55F11F9665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2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872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2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872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0AA5E64-BA7E-4693-80EB-CF99CC99429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6A90E77-37E2-427D-A2D8-96044316112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Box 1"/>
          <p:cNvSpPr/>
          <p:nvPr/>
        </p:nvSpPr>
        <p:spPr>
          <a:xfrm>
            <a:off x="2421360" y="1600200"/>
            <a:ext cx="740952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141e28"/>
                </a:solidFill>
                <a:latin typeface="Calibri"/>
              </a:rPr>
              <a:t>Факторный анализ и экспертная</a:t>
            </a:r>
            <a:endParaRPr b="0" lang="en-US" sz="3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3000" spc="-1" strike="noStrike">
                <a:solidFill>
                  <a:srgbClr val="141e28"/>
                </a:solidFill>
                <a:latin typeface="Calibri"/>
              </a:rPr>
              <a:t> </a:t>
            </a:r>
            <a:r>
              <a:rPr b="1" lang="en-US" sz="3000" spc="-1" strike="noStrike">
                <a:solidFill>
                  <a:srgbClr val="141e28"/>
                </a:solidFill>
                <a:latin typeface="Calibri"/>
              </a:rPr>
              <a:t>оценка сервисов доставки еды</a:t>
            </a:r>
            <a:endParaRPr b="0" lang="en-US" sz="3000" spc="-1" strike="noStrike">
              <a:latin typeface="Arial"/>
            </a:endParaRPr>
          </a:p>
        </p:txBody>
      </p:sp>
      <p:sp>
        <p:nvSpPr>
          <p:cNvPr id="42" name="TextBox 2"/>
          <p:cNvSpPr/>
          <p:nvPr/>
        </p:nvSpPr>
        <p:spPr>
          <a:xfrm>
            <a:off x="1809360" y="3065040"/>
            <a:ext cx="8706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3c4650"/>
                </a:solidFill>
                <a:latin typeface="Calibri"/>
              </a:rPr>
              <a:t>Практическое задание №3: опрос студентов и обработка результатов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3" name="TextBox 3"/>
          <p:cNvSpPr/>
          <p:nvPr/>
        </p:nvSpPr>
        <p:spPr>
          <a:xfrm>
            <a:off x="2133360" y="5074920"/>
            <a:ext cx="798552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3c4650"/>
                </a:solidFill>
                <a:latin typeface="Calibri"/>
              </a:rPr>
              <a:t>Выборка: 60 респондентов, группы 4414–4417, 5 оцениваемых сервисов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1"/>
          <p:cNvSpPr/>
          <p:nvPr/>
        </p:nvSpPr>
        <p:spPr>
          <a:xfrm>
            <a:off x="3933360" y="228600"/>
            <a:ext cx="41115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141e28"/>
                </a:solidFill>
                <a:latin typeface="Calibri"/>
              </a:rPr>
              <a:t>1. Анкета и выборка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45" name="Rectangle 2"/>
          <p:cNvSpPr/>
          <p:nvPr/>
        </p:nvSpPr>
        <p:spPr>
          <a:xfrm>
            <a:off x="502920" y="1051560"/>
            <a:ext cx="11155320" cy="27000"/>
          </a:xfrm>
          <a:prstGeom prst="rect">
            <a:avLst/>
          </a:prstGeom>
          <a:solidFill>
            <a:srgbClr val="4678a0"/>
          </a:solidFill>
          <a:ln>
            <a:solidFill>
              <a:srgbClr val="4678a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" name="TextBox 3"/>
          <p:cNvSpPr/>
          <p:nvPr/>
        </p:nvSpPr>
        <p:spPr>
          <a:xfrm>
            <a:off x="457200" y="1325880"/>
            <a:ext cx="5486400" cy="30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Онлайн письменный опрос среди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студентов учебного потока 4414–4417.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60 заполненных анкет: требование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«не менее 30 человек» выполнено с запасом.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Оценки сервисов даны по шкале 1–10: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цена, скорость доставки, общее качество.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Отдельный блок описывает характеристики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экспертов: частота заказов, расходы,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важность факторов выбора.</a:t>
            </a:r>
            <a:endParaRPr b="0" lang="en-US" sz="1700" spc="-1" strike="noStrike">
              <a:latin typeface="Arial"/>
            </a:endParaRPr>
          </a:p>
        </p:txBody>
      </p:sp>
      <p:pic>
        <p:nvPicPr>
          <p:cNvPr id="47" name="Picture 4" descr="usage_frequency_bar.png"/>
          <p:cNvPicPr/>
          <p:nvPr/>
        </p:nvPicPr>
        <p:blipFill>
          <a:blip r:embed="rId1"/>
          <a:stretch/>
        </p:blipFill>
        <p:spPr>
          <a:xfrm>
            <a:off x="5943600" y="1280160"/>
            <a:ext cx="5668920" cy="3101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Box 1"/>
          <p:cNvSpPr/>
          <p:nvPr/>
        </p:nvSpPr>
        <p:spPr>
          <a:xfrm>
            <a:off x="2359800" y="228600"/>
            <a:ext cx="72586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141e28"/>
                </a:solidFill>
                <a:latin typeface="Calibri"/>
              </a:rPr>
              <a:t>2. Наглядное представление оценок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49" name="Rectangle 2"/>
          <p:cNvSpPr/>
          <p:nvPr/>
        </p:nvSpPr>
        <p:spPr>
          <a:xfrm>
            <a:off x="502920" y="1051560"/>
            <a:ext cx="11155320" cy="27000"/>
          </a:xfrm>
          <a:prstGeom prst="rect">
            <a:avLst/>
          </a:prstGeom>
          <a:solidFill>
            <a:srgbClr val="4678a0"/>
          </a:solidFill>
          <a:ln>
            <a:solidFill>
              <a:srgbClr val="4678a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0" name="Picture 3" descr="service_criteria_grouped_bar.png"/>
          <p:cNvPicPr/>
          <p:nvPr/>
        </p:nvPicPr>
        <p:blipFill>
          <a:blip r:embed="rId1"/>
          <a:stretch/>
        </p:blipFill>
        <p:spPr>
          <a:xfrm>
            <a:off x="548640" y="1234440"/>
            <a:ext cx="5714640" cy="3052080"/>
          </a:xfrm>
          <a:prstGeom prst="rect">
            <a:avLst/>
          </a:prstGeom>
          <a:ln w="0">
            <a:noFill/>
          </a:ln>
        </p:spPr>
      </p:pic>
      <p:pic>
        <p:nvPicPr>
          <p:cNvPr id="51" name="Picture 4" descr="service_criteria_heatmap.png"/>
          <p:cNvPicPr/>
          <p:nvPr/>
        </p:nvPicPr>
        <p:blipFill>
          <a:blip r:embed="rId2"/>
          <a:stretch/>
        </p:blipFill>
        <p:spPr>
          <a:xfrm>
            <a:off x="6446520" y="1234440"/>
            <a:ext cx="5120280" cy="2867040"/>
          </a:xfrm>
          <a:prstGeom prst="rect">
            <a:avLst/>
          </a:prstGeom>
          <a:ln w="0">
            <a:noFill/>
          </a:ln>
        </p:spPr>
      </p:pic>
      <p:sp>
        <p:nvSpPr>
          <p:cNvPr id="52" name="TextBox 5"/>
          <p:cNvSpPr/>
          <p:nvPr/>
        </p:nvSpPr>
        <p:spPr>
          <a:xfrm>
            <a:off x="-901440" y="5989320"/>
            <a:ext cx="1405584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323c46"/>
                </a:solidFill>
                <a:latin typeface="Calibri"/>
              </a:rPr>
              <a:t>В среднем выше всего оценивается Самокат, но структура оценок неоднородна: скорость и цена работают как разные источники предпочтения.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Box 1"/>
          <p:cNvSpPr/>
          <p:nvPr/>
        </p:nvSpPr>
        <p:spPr>
          <a:xfrm>
            <a:off x="2891520" y="228600"/>
            <a:ext cx="61948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141e28"/>
                </a:solidFill>
                <a:latin typeface="Calibri"/>
              </a:rPr>
              <a:t>3. Факторный анализ объектов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54" name="Rectangle 2"/>
          <p:cNvSpPr/>
          <p:nvPr/>
        </p:nvSpPr>
        <p:spPr>
          <a:xfrm>
            <a:off x="502920" y="1051560"/>
            <a:ext cx="11155320" cy="27000"/>
          </a:xfrm>
          <a:prstGeom prst="rect">
            <a:avLst/>
          </a:prstGeom>
          <a:solidFill>
            <a:srgbClr val="4678a0"/>
          </a:solidFill>
          <a:ln>
            <a:solidFill>
              <a:srgbClr val="4678a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5" name="Picture 3" descr="object_factor_map.png"/>
          <p:cNvPicPr/>
          <p:nvPr/>
        </p:nvPicPr>
        <p:blipFill>
          <a:blip r:embed="rId1"/>
          <a:stretch/>
        </p:blipFill>
        <p:spPr>
          <a:xfrm>
            <a:off x="731520" y="1234440"/>
            <a:ext cx="5074560" cy="4151880"/>
          </a:xfrm>
          <a:prstGeom prst="rect">
            <a:avLst/>
          </a:prstGeom>
          <a:ln w="0">
            <a:noFill/>
          </a:ln>
        </p:spPr>
      </p:pic>
      <p:sp>
        <p:nvSpPr>
          <p:cNvPr id="56" name="TextBox 4"/>
          <p:cNvSpPr/>
          <p:nvPr/>
        </p:nvSpPr>
        <p:spPr>
          <a:xfrm>
            <a:off x="5518440" y="1645920"/>
            <a:ext cx="6597360" cy="26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Два фактора по правилу собственных значений &gt;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1 объясняют 50,4% дисперсии.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F1 связан с положительным восприятием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Самоката и Ozon Fresh.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F2 отделяет Купер и Delivery Club от Яндекс Еды;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это похоже на различие по типу ожиданий от сервиса.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Факторные нагрузки показывают, что оценки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сервисов не сводятся к одному простому рейтингу.</a:t>
            </a:r>
            <a:endParaRPr b="0" lang="en-US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1"/>
          <p:cNvSpPr/>
          <p:nvPr/>
        </p:nvSpPr>
        <p:spPr>
          <a:xfrm>
            <a:off x="1334880" y="228600"/>
            <a:ext cx="9308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141e28"/>
                </a:solidFill>
                <a:latin typeface="Calibri"/>
              </a:rPr>
              <a:t>4. Факторный анализ характеристик экспертов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58" name="Rectangle 2"/>
          <p:cNvSpPr/>
          <p:nvPr/>
        </p:nvSpPr>
        <p:spPr>
          <a:xfrm>
            <a:off x="502920" y="1051560"/>
            <a:ext cx="11155320" cy="27000"/>
          </a:xfrm>
          <a:prstGeom prst="rect">
            <a:avLst/>
          </a:prstGeom>
          <a:solidFill>
            <a:srgbClr val="4678a0"/>
          </a:solidFill>
          <a:ln>
            <a:solidFill>
              <a:srgbClr val="4678a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9" name="Picture 3" descr="expert_factor_loadings_heatmap.png"/>
          <p:cNvPicPr/>
          <p:nvPr/>
        </p:nvPicPr>
        <p:blipFill>
          <a:blip r:embed="rId1"/>
          <a:stretch/>
        </p:blipFill>
        <p:spPr>
          <a:xfrm>
            <a:off x="594360" y="1143000"/>
            <a:ext cx="6034680" cy="4641840"/>
          </a:xfrm>
          <a:prstGeom prst="rect">
            <a:avLst/>
          </a:prstGeom>
          <a:ln w="0">
            <a:noFill/>
          </a:ln>
        </p:spPr>
      </p:pic>
      <p:sp>
        <p:nvSpPr>
          <p:cNvPr id="60" name="TextBox 4"/>
          <p:cNvSpPr/>
          <p:nvPr/>
        </p:nvSpPr>
        <p:spPr>
          <a:xfrm>
            <a:off x="6492240" y="1325880"/>
            <a:ext cx="5699520" cy="20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F1: вовлеченность в доставку —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частота заказов, расходы, рекомендация,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опыт за последние 3 месяца.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F2: ожидания к скорости и ассортименту.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F3: ценовая и интерфейсная требовательность.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F4: точность времени против роли поддержки.</a:t>
            </a:r>
            <a:endParaRPr b="0" lang="en-US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3016800" y="228600"/>
            <a:ext cx="59446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141e28"/>
                </a:solidFill>
                <a:latin typeface="Calibri"/>
              </a:rPr>
              <a:t>5. Согласованность экспертов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502920" y="1051560"/>
            <a:ext cx="11155320" cy="27000"/>
          </a:xfrm>
          <a:prstGeom prst="rect">
            <a:avLst/>
          </a:prstGeom>
          <a:solidFill>
            <a:srgbClr val="4678a0"/>
          </a:solidFill>
          <a:ln>
            <a:solidFill>
              <a:srgbClr val="4678a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3" name="Picture 3" descr="mean_ranks_bar.png"/>
          <p:cNvPicPr/>
          <p:nvPr/>
        </p:nvPicPr>
        <p:blipFill>
          <a:blip r:embed="rId1"/>
          <a:stretch/>
        </p:blipFill>
        <p:spPr>
          <a:xfrm>
            <a:off x="685800" y="1234440"/>
            <a:ext cx="5486040" cy="3187800"/>
          </a:xfrm>
          <a:prstGeom prst="rect">
            <a:avLst/>
          </a:prstGeom>
          <a:ln w="0">
            <a:noFill/>
          </a:ln>
        </p:spPr>
      </p:pic>
      <p:sp>
        <p:nvSpPr>
          <p:cNvPr id="64" name="TextBox 4"/>
          <p:cNvSpPr/>
          <p:nvPr/>
        </p:nvSpPr>
        <p:spPr>
          <a:xfrm>
            <a:off x="6147720" y="1463040"/>
            <a:ext cx="5626440" cy="20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Критерий Фридмана: χ² = 33,11, p = &lt; 0,001.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Коэффициент конкордации: W = 0,138.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Различия между сервисами статистически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значимы, но сила согласованности невысокая.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Удаление 3 формально сомнительных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анкет почти не меняет результат.</a:t>
            </a:r>
            <a:endParaRPr b="0" lang="en-US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1"/>
          <p:cNvSpPr/>
          <p:nvPr/>
        </p:nvSpPr>
        <p:spPr>
          <a:xfrm>
            <a:off x="3466080" y="228600"/>
            <a:ext cx="50457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141e28"/>
                </a:solidFill>
                <a:latin typeface="Calibri"/>
              </a:rPr>
              <a:t>6. Регрессионный анализ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66" name="Rectangle 2"/>
          <p:cNvSpPr/>
          <p:nvPr/>
        </p:nvSpPr>
        <p:spPr>
          <a:xfrm>
            <a:off x="502920" y="1051560"/>
            <a:ext cx="11155320" cy="27000"/>
          </a:xfrm>
          <a:prstGeom prst="rect">
            <a:avLst/>
          </a:prstGeom>
          <a:solidFill>
            <a:srgbClr val="4678a0"/>
          </a:solidFill>
          <a:ln>
            <a:solidFill>
              <a:srgbClr val="4678a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67" name="Picture 3" descr="regression_actual_vs_predicted.png"/>
          <p:cNvPicPr/>
          <p:nvPr/>
        </p:nvPicPr>
        <p:blipFill>
          <a:blip r:embed="rId1"/>
          <a:stretch/>
        </p:blipFill>
        <p:spPr>
          <a:xfrm>
            <a:off x="822960" y="1234440"/>
            <a:ext cx="5120280" cy="4413960"/>
          </a:xfrm>
          <a:prstGeom prst="rect">
            <a:avLst/>
          </a:prstGeom>
          <a:ln w="0">
            <a:noFill/>
          </a:ln>
        </p:spPr>
      </p:pic>
      <p:sp>
        <p:nvSpPr>
          <p:cNvPr id="68" name="TextBox 4"/>
          <p:cNvSpPr/>
          <p:nvPr/>
        </p:nvSpPr>
        <p:spPr>
          <a:xfrm>
            <a:off x="5768280" y="1371600"/>
            <a:ext cx="6423480" cy="23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Цель модели — объяснить готовность 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рекомендовать чаще используемый сервис.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R² = 0,636, скорректированный R² = 0,562.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Наиболее заметные предикторы: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месячные расходы, сравнение цен, важность цены.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Чем активнее студент пользуется</a:t>
            </a:r>
            <a:endParaRPr b="0" lang="en-US" sz="17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700" spc="-1" strike="noStrike">
                <a:solidFill>
                  <a:srgbClr val="000000"/>
                </a:solidFill>
                <a:latin typeface="Calibri"/>
              </a:rPr>
              <a:t>доставкой, тем устойчивее выражена рекомендация.</a:t>
            </a:r>
            <a:endParaRPr b="0" lang="en-US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3936960" y="228600"/>
            <a:ext cx="41040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141e28"/>
                </a:solidFill>
                <a:latin typeface="Calibri"/>
              </a:rPr>
              <a:t>7. Итоговые выводы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70" name="Rectangle 2"/>
          <p:cNvSpPr/>
          <p:nvPr/>
        </p:nvSpPr>
        <p:spPr>
          <a:xfrm>
            <a:off x="502920" y="1051560"/>
            <a:ext cx="11155320" cy="27000"/>
          </a:xfrm>
          <a:prstGeom prst="rect">
            <a:avLst/>
          </a:prstGeom>
          <a:solidFill>
            <a:srgbClr val="4678a0"/>
          </a:solidFill>
          <a:ln>
            <a:solidFill>
              <a:srgbClr val="4678a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1" name="TextBox 3"/>
          <p:cNvSpPr/>
          <p:nvPr/>
        </p:nvSpPr>
        <p:spPr>
          <a:xfrm>
            <a:off x="265320" y="1325880"/>
            <a:ext cx="11850480" cy="367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Анкета позволяет одновременно оценить объекты, характеристики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экспертов и согласованность экспертной группы.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Самокат получает максимальный средний ранг; Яндекс Еда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занимает вторую позицию, а Купер — наиболее слабую по совокупной оценке.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Факторный анализ показывает, что восприятие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сервисов многомерно: важны не только «средние оценки», но и структура предпочтений.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Согласованность экспертов статистически подтверждена,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однако W невысок: в теме доставки заметна индивидуальная модель потребления.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Регрессия показывает, что рекомендация связана скорее с реальной</a:t>
            </a:r>
            <a:endParaRPr b="0" lang="en-US" sz="19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buNone/>
            </a:pP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1900" spc="-1" strike="noStrike">
                <a:solidFill>
                  <a:srgbClr val="000000"/>
                </a:solidFill>
                <a:latin typeface="Calibri"/>
              </a:rPr>
              <a:t>вовлеченностью и расходами, чем с одной субъективной оценкой сервиса.</a:t>
            </a:r>
            <a:endParaRPr b="0" lang="en-US" sz="1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2026-05-01T23:27:31Z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