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10.png" ContentType="image/png"/>
  <Override PartName="/ppt/media/image6.png" ContentType="image/png"/>
  <Override PartName="/ppt/media/image11.png" ContentType="image/png"/>
  <Override PartName="/ppt/media/image7.png" ContentType="image/png"/>
  <Override PartName="/ppt/media/image8.png" ContentType="image/png"/>
  <Override PartName="/ppt/media/image9.png" ContentType="image/png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slideLayout" Target="../slideLayouts/slideLayout2.xml"/><Relationship Id="rId6" Type="http://schemas.openxmlformats.org/officeDocument/2006/relationships/slideLayout" Target="../slideLayouts/slideLayout3.xml"/><Relationship Id="rId7" Type="http://schemas.openxmlformats.org/officeDocument/2006/relationships/slideLayout" Target="../slideLayouts/slideLayout4.xml"/><Relationship Id="rId8" Type="http://schemas.openxmlformats.org/officeDocument/2006/relationships/slideLayout" Target="../slideLayouts/slideLayout5.xml"/><Relationship Id="rId9" Type="http://schemas.openxmlformats.org/officeDocument/2006/relationships/slideLayout" Target="../slideLayouts/slideLayout6.xml"/><Relationship Id="rId10" Type="http://schemas.openxmlformats.org/officeDocument/2006/relationships/slideLayout" Target="../slideLayouts/slideLayout7.xml"/><Relationship Id="rId11" Type="http://schemas.openxmlformats.org/officeDocument/2006/relationships/slideLayout" Target="../slideLayouts/slideLayout8.xml"/><Relationship Id="rId12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1.xml"/><Relationship Id="rId15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Прямоугольник 6"/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blipFill rotWithShape="0">
            <a:blip r:embed="rId2"/>
            <a:srcRect/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pic>
        <p:nvPicPr>
          <p:cNvPr id="1" name="Рисунок 7" descr=""/>
          <p:cNvPicPr/>
          <p:nvPr/>
        </p:nvPicPr>
        <p:blipFill>
          <a:blip r:embed="rId3"/>
          <a:srcRect l="0" t="0" r="56155" b="0"/>
          <a:stretch/>
        </p:blipFill>
        <p:spPr>
          <a:xfrm>
            <a:off x="550800" y="304200"/>
            <a:ext cx="2826720" cy="1094760"/>
          </a:xfrm>
          <a:prstGeom prst="rect">
            <a:avLst/>
          </a:prstGeom>
          <a:ln w="0">
            <a:noFill/>
          </a:ln>
        </p:spPr>
      </p:pic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</a:t>
            </a:r>
            <a:r>
              <a:rPr b="0" lang="en-US" sz="4400" spc="-1" strike="noStrike">
                <a:latin typeface="Arial"/>
              </a:rPr>
              <a:t>edit the </a:t>
            </a:r>
            <a:r>
              <a:rPr b="0" lang="en-US" sz="4400" spc="-1" strike="noStrike">
                <a:latin typeface="Arial"/>
              </a:rPr>
              <a:t>title text </a:t>
            </a:r>
            <a:r>
              <a:rPr b="0" lang="en-US" sz="4400" spc="-1" strike="noStrike">
                <a:latin typeface="Arial"/>
              </a:rPr>
              <a:t>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  <p:sldLayoutId id="2147483660" r:id="rId1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550800" y="2509560"/>
            <a:ext cx="805104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ru-RU" sz="3600" spc="-1" strike="noStrike">
                <a:solidFill>
                  <a:srgbClr val="005aaa"/>
                </a:solidFill>
                <a:latin typeface="Arial"/>
              </a:rPr>
              <a:t>Экспертная </a:t>
            </a:r>
            <a:r>
              <a:rPr b="0" lang="ru-RU" sz="3600" spc="-1" strike="noStrike">
                <a:solidFill>
                  <a:srgbClr val="005aaa"/>
                </a:solidFill>
                <a:latin typeface="Arial"/>
              </a:rPr>
              <a:t>оценка</a:t>
            </a:r>
            <a:br>
              <a:rPr sz="3600"/>
            </a:br>
            <a:r>
              <a:rPr b="0" lang="ru-RU" sz="3600" spc="-1" strike="noStrike">
                <a:solidFill>
                  <a:srgbClr val="005aaa"/>
                </a:solidFill>
                <a:latin typeface="Arial"/>
              </a:rPr>
              <a:t>сервисов </a:t>
            </a:r>
            <a:r>
              <a:rPr b="0" lang="ru-RU" sz="3600" spc="-1" strike="noStrike">
                <a:solidFill>
                  <a:srgbClr val="005aaa"/>
                </a:solidFill>
                <a:latin typeface="Arial"/>
              </a:rPr>
              <a:t>доставки </a:t>
            </a:r>
            <a:r>
              <a:rPr b="0" lang="ru-RU" sz="3600" spc="-1" strike="noStrike">
                <a:solidFill>
                  <a:srgbClr val="005aaa"/>
                </a:solidFill>
                <a:latin typeface="Arial"/>
              </a:rPr>
              <a:t>еды</a:t>
            </a:r>
            <a:br>
              <a:rPr sz="3600"/>
            </a:br>
            <a:r>
              <a:rPr b="0" lang="ru-RU" sz="3600" spc="-1" strike="noStrike">
                <a:solidFill>
                  <a:srgbClr val="005aaa"/>
                </a:solidFill>
                <a:latin typeface="Arial"/>
              </a:rPr>
              <a:t>и </a:t>
            </a:r>
            <a:r>
              <a:rPr b="0" lang="ru-RU" sz="3600" spc="-1" strike="noStrike">
                <a:solidFill>
                  <a:srgbClr val="005aaa"/>
                </a:solidFill>
                <a:latin typeface="Arial"/>
              </a:rPr>
              <a:t>факторный </a:t>
            </a:r>
            <a:r>
              <a:rPr b="0" lang="ru-RU" sz="3600" spc="-1" strike="noStrike">
                <a:solidFill>
                  <a:srgbClr val="005aaa"/>
                </a:solidFill>
                <a:latin typeface="Arial"/>
              </a:rPr>
              <a:t>анализ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/>
          </p:nvPr>
        </p:nvSpPr>
        <p:spPr>
          <a:xfrm>
            <a:off x="550800" y="4568400"/>
            <a:ext cx="6330240" cy="84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800" spc="-1" strike="noStrike">
                <a:solidFill>
                  <a:srgbClr val="242834"/>
                </a:solidFill>
                <a:latin typeface="Arial"/>
              </a:rPr>
              <a:t>Практическая работа № 3</a:t>
            </a:r>
            <a:br>
              <a:rPr sz="1800"/>
            </a:br>
            <a:r>
              <a:rPr b="0" lang="ru-RU" sz="1800" spc="-1" strike="noStrike">
                <a:solidFill>
                  <a:srgbClr val="242834"/>
                </a:solidFill>
                <a:latin typeface="Arial"/>
              </a:rPr>
              <a:t>Группа 4414: Моисеев Григорий, Герасименко Вадим, Куприянов Егор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/>
          </p:nvPr>
        </p:nvSpPr>
        <p:spPr>
          <a:xfrm>
            <a:off x="8152560" y="5994000"/>
            <a:ext cx="3487680" cy="38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1800" spc="-1" strike="noStrike">
                <a:solidFill>
                  <a:srgbClr val="242834"/>
                </a:solidFill>
                <a:latin typeface="Arial"/>
              </a:rPr>
              <a:t>                                              </a:t>
            </a:r>
            <a:r>
              <a:rPr b="0" lang="ru-RU" sz="1800" spc="-1" strike="noStrike">
                <a:solidFill>
                  <a:srgbClr val="242834"/>
                </a:solidFill>
                <a:latin typeface="Arial"/>
              </a:rPr>
              <a:t>2026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1"/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" name="Rectangle 2"/>
          <p:cNvSpPr/>
          <p:nvPr/>
        </p:nvSpPr>
        <p:spPr>
          <a:xfrm>
            <a:off x="0" y="0"/>
            <a:ext cx="12191400" cy="109080"/>
          </a:xfrm>
          <a:prstGeom prst="rect">
            <a:avLst/>
          </a:prstGeom>
          <a:solidFill>
            <a:srgbClr val="0e386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5" name="TextBox 3"/>
          <p:cNvSpPr/>
          <p:nvPr/>
        </p:nvSpPr>
        <p:spPr>
          <a:xfrm>
            <a:off x="411480" y="210240"/>
            <a:ext cx="593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1200" spc="-1" strike="noStrike">
                <a:solidFill>
                  <a:srgbClr val="f28e2b"/>
                </a:solidFill>
                <a:latin typeface="Arial"/>
                <a:ea typeface="DejaVu Sans"/>
              </a:rPr>
              <a:t>02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46" name="TextBox 4"/>
          <p:cNvSpPr/>
          <p:nvPr/>
        </p:nvSpPr>
        <p:spPr>
          <a:xfrm>
            <a:off x="841320" y="182880"/>
            <a:ext cx="89604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2400" spc="-1" strike="noStrike">
                <a:solidFill>
                  <a:srgbClr val="0e3865"/>
                </a:solidFill>
                <a:latin typeface="Arial"/>
                <a:ea typeface="DejaVu Sans"/>
              </a:rPr>
              <a:t>Замысел исследования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47" name="TextBox 5"/>
          <p:cNvSpPr/>
          <p:nvPr/>
        </p:nvSpPr>
        <p:spPr>
          <a:xfrm>
            <a:off x="859680" y="576000"/>
            <a:ext cx="1014912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ru-RU" sz="1160" spc="-1" strike="noStrike">
                <a:solidFill>
                  <a:srgbClr val="606b7b"/>
                </a:solidFill>
                <a:latin typeface="Arial"/>
                <a:ea typeface="DejaVu Sans"/>
              </a:rPr>
              <a:t>Что именно изучалось, на каких данных и какими методами</a:t>
            </a:r>
            <a:endParaRPr b="0" lang="en-US" sz="1160" spc="-1" strike="noStrike">
              <a:latin typeface="Arial"/>
            </a:endParaRPr>
          </a:p>
        </p:txBody>
      </p:sp>
      <p:sp>
        <p:nvSpPr>
          <p:cNvPr id="48" name="Rounded Rectangle 6"/>
          <p:cNvSpPr/>
          <p:nvPr/>
        </p:nvSpPr>
        <p:spPr>
          <a:xfrm>
            <a:off x="777240" y="1143000"/>
            <a:ext cx="3153960" cy="1416600"/>
          </a:xfrm>
          <a:prstGeom prst="roundRect">
            <a:avLst>
              <a:gd name="adj" fmla="val 16667"/>
            </a:avLst>
          </a:prstGeom>
          <a:solidFill>
            <a:srgbClr val="f4f7fb"/>
          </a:solidFill>
          <a:ln>
            <a:solidFill>
              <a:srgbClr val="e8eff7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9" name="TextBox 7"/>
          <p:cNvSpPr/>
          <p:nvPr/>
        </p:nvSpPr>
        <p:spPr>
          <a:xfrm>
            <a:off x="905400" y="1252800"/>
            <a:ext cx="2898000" cy="90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1380" spc="-1" strike="noStrike">
                <a:solidFill>
                  <a:srgbClr val="0e3865"/>
                </a:solidFill>
                <a:latin typeface="Arial"/>
                <a:ea typeface="DejaVu Sans"/>
              </a:rPr>
              <a:t>Объект исследования</a:t>
            </a:r>
            <a:endParaRPr b="0" lang="en-US" sz="138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r>
              <a:rPr b="0" lang="ru-RU" sz="1210" spc="-1" strike="noStrike">
                <a:solidFill>
                  <a:srgbClr val="1f2937"/>
                </a:solidFill>
                <a:latin typeface="Arial"/>
                <a:ea typeface="DejaVu Sans"/>
              </a:rPr>
              <a:t>Пять сервисов доставки еды: Яндекс Еда, Самокат, Delivery Club, Купер и Ozon Fresh.</a:t>
            </a:r>
            <a:endParaRPr b="0" lang="en-US" sz="1210" spc="-1" strike="noStrike">
              <a:latin typeface="Arial"/>
            </a:endParaRPr>
          </a:p>
        </p:txBody>
      </p:sp>
      <p:sp>
        <p:nvSpPr>
          <p:cNvPr id="50" name="Rounded Rectangle 8"/>
          <p:cNvSpPr/>
          <p:nvPr/>
        </p:nvSpPr>
        <p:spPr>
          <a:xfrm>
            <a:off x="4069080" y="1143000"/>
            <a:ext cx="3153960" cy="1416600"/>
          </a:xfrm>
          <a:prstGeom prst="roundRect">
            <a:avLst>
              <a:gd name="adj" fmla="val 16667"/>
            </a:avLst>
          </a:prstGeom>
          <a:solidFill>
            <a:srgbClr val="f9fafc"/>
          </a:solidFill>
          <a:ln>
            <a:solidFill>
              <a:srgbClr val="e8eff7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1" name="TextBox 9"/>
          <p:cNvSpPr/>
          <p:nvPr/>
        </p:nvSpPr>
        <p:spPr>
          <a:xfrm>
            <a:off x="4197240" y="1252800"/>
            <a:ext cx="2898000" cy="90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1380" spc="-1" strike="noStrike">
                <a:solidFill>
                  <a:srgbClr val="0e3865"/>
                </a:solidFill>
                <a:latin typeface="Arial"/>
                <a:ea typeface="DejaVu Sans"/>
              </a:rPr>
              <a:t>Исходные данные</a:t>
            </a:r>
            <a:endParaRPr b="0" lang="en-US" sz="138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r>
              <a:rPr b="0" lang="ru-RU" sz="1210" spc="-1" strike="noStrike">
                <a:solidFill>
                  <a:srgbClr val="1f2937"/>
                </a:solidFill>
                <a:latin typeface="Arial"/>
                <a:ea typeface="DejaVu Sans"/>
              </a:rPr>
              <a:t>60 анкет студентов потока 4414–4417; для каждого сервиса собраны оценки цены, скорости и качества.</a:t>
            </a:r>
            <a:endParaRPr b="0" lang="en-US" sz="1210" spc="-1" strike="noStrike">
              <a:latin typeface="Arial"/>
            </a:endParaRPr>
          </a:p>
        </p:txBody>
      </p:sp>
      <p:sp>
        <p:nvSpPr>
          <p:cNvPr id="52" name="Rounded Rectangle 10"/>
          <p:cNvSpPr/>
          <p:nvPr/>
        </p:nvSpPr>
        <p:spPr>
          <a:xfrm>
            <a:off x="7360920" y="1143000"/>
            <a:ext cx="3976920" cy="1416600"/>
          </a:xfrm>
          <a:prstGeom prst="roundRect">
            <a:avLst>
              <a:gd name="adj" fmla="val 16667"/>
            </a:avLst>
          </a:prstGeom>
          <a:solidFill>
            <a:srgbClr val="f4f7fb"/>
          </a:solidFill>
          <a:ln>
            <a:solidFill>
              <a:srgbClr val="e8eff7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3" name="TextBox 11"/>
          <p:cNvSpPr/>
          <p:nvPr/>
        </p:nvSpPr>
        <p:spPr>
          <a:xfrm>
            <a:off x="7489080" y="1252800"/>
            <a:ext cx="3720960" cy="90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1380" spc="-1" strike="noStrike">
                <a:solidFill>
                  <a:srgbClr val="0e3865"/>
                </a:solidFill>
                <a:latin typeface="Arial"/>
                <a:ea typeface="DejaVu Sans"/>
              </a:rPr>
              <a:t>Методы анализа</a:t>
            </a:r>
            <a:endParaRPr b="0" lang="en-US" sz="138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r>
              <a:rPr b="0" lang="ru-RU" sz="1210" spc="-1" strike="noStrike">
                <a:solidFill>
                  <a:srgbClr val="1f2937"/>
                </a:solidFill>
                <a:latin typeface="Arial"/>
                <a:ea typeface="DejaVu Sans"/>
              </a:rPr>
              <a:t>Описательная статистика, факторный анализ (PCA + varimax), критерий Фридмана, коэффициент конкордации и OLS-регрессия.</a:t>
            </a:r>
            <a:endParaRPr b="0" lang="en-US" sz="1210" spc="-1" strike="noStrike">
              <a:latin typeface="Arial"/>
            </a:endParaRPr>
          </a:p>
        </p:txBody>
      </p:sp>
      <p:sp>
        <p:nvSpPr>
          <p:cNvPr id="54" name="TextBox 12"/>
          <p:cNvSpPr/>
          <p:nvPr/>
        </p:nvSpPr>
        <p:spPr>
          <a:xfrm>
            <a:off x="868680" y="2953440"/>
            <a:ext cx="3199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1800" spc="-1" strike="noStrike">
                <a:solidFill>
                  <a:srgbClr val="0e3865"/>
                </a:solidFill>
                <a:latin typeface="Arial"/>
                <a:ea typeface="DejaVu Sans"/>
              </a:rPr>
              <a:t>Что хотим получить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5" name="TextBox 13"/>
          <p:cNvSpPr/>
          <p:nvPr/>
        </p:nvSpPr>
        <p:spPr>
          <a:xfrm>
            <a:off x="914400" y="3383280"/>
            <a:ext cx="4571280" cy="159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ru-RU" sz="1480" spc="-1" strike="noStrike">
                <a:solidFill>
                  <a:srgbClr val="1f2937"/>
                </a:solidFill>
                <a:latin typeface="Arial"/>
                <a:ea typeface="DejaVu Sans"/>
              </a:rPr>
              <a:t>понять, какие сервисы студенты оценивают выше;</a:t>
            </a:r>
            <a:endParaRPr b="0" lang="en-US" sz="148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ru-RU" sz="1480" spc="-1" strike="noStrike">
                <a:solidFill>
                  <a:srgbClr val="1f2937"/>
                </a:solidFill>
                <a:latin typeface="Arial"/>
                <a:ea typeface="DejaVu Sans"/>
              </a:rPr>
              <a:t>показать, за счёт каких факторов оценки расходятся;</a:t>
            </a:r>
            <a:endParaRPr b="0" lang="en-US" sz="148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ru-RU" sz="1480" spc="-1" strike="noStrike">
                <a:solidFill>
                  <a:srgbClr val="1f2937"/>
                </a:solidFill>
                <a:latin typeface="Arial"/>
                <a:ea typeface="DejaVu Sans"/>
              </a:rPr>
              <a:t>объяснить, от чего зависит готовность рекомендовать сервис.</a:t>
            </a:r>
            <a:endParaRPr b="0" lang="en-US" sz="1480" spc="-1" strike="noStrike">
              <a:latin typeface="Arial"/>
            </a:endParaRPr>
          </a:p>
        </p:txBody>
      </p:sp>
      <p:pic>
        <p:nvPicPr>
          <p:cNvPr id="56" name="Picture 14" descr="integral_scores_ranked.png"/>
          <p:cNvPicPr/>
          <p:nvPr/>
        </p:nvPicPr>
        <p:blipFill>
          <a:blip r:embed="rId1"/>
          <a:stretch/>
        </p:blipFill>
        <p:spPr>
          <a:xfrm>
            <a:off x="5989320" y="2898720"/>
            <a:ext cx="4891320" cy="2659680"/>
          </a:xfrm>
          <a:prstGeom prst="rect">
            <a:avLst/>
          </a:prstGeom>
          <a:ln w="0">
            <a:noFill/>
          </a:ln>
        </p:spPr>
      </p:pic>
      <p:sp>
        <p:nvSpPr>
          <p:cNvPr id="57" name="TextBox 15"/>
          <p:cNvSpPr/>
          <p:nvPr/>
        </p:nvSpPr>
        <p:spPr>
          <a:xfrm>
            <a:off x="6080760" y="5715000"/>
            <a:ext cx="46627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ru-RU" sz="1200" spc="-1" strike="noStrike">
                <a:solidFill>
                  <a:srgbClr val="606b7b"/>
                </a:solidFill>
                <a:latin typeface="Arial"/>
                <a:ea typeface="DejaVu Sans"/>
              </a:rPr>
              <a:t>Интегральный рейтинг нужен как старт, но он не объясняет причин различий — это делают последующие слайды.</a:t>
            </a:r>
            <a:endParaRPr b="0" lang="en-US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 1"/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9" name="Rectangle 2"/>
          <p:cNvSpPr/>
          <p:nvPr/>
        </p:nvSpPr>
        <p:spPr>
          <a:xfrm>
            <a:off x="0" y="0"/>
            <a:ext cx="12191400" cy="109080"/>
          </a:xfrm>
          <a:prstGeom prst="rect">
            <a:avLst/>
          </a:prstGeom>
          <a:solidFill>
            <a:srgbClr val="0e386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0" name="TextBox 3"/>
          <p:cNvSpPr/>
          <p:nvPr/>
        </p:nvSpPr>
        <p:spPr>
          <a:xfrm>
            <a:off x="411480" y="210240"/>
            <a:ext cx="593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1200" spc="-1" strike="noStrike">
                <a:solidFill>
                  <a:srgbClr val="f28e2b"/>
                </a:solidFill>
                <a:latin typeface="Arial"/>
                <a:ea typeface="DejaVu Sans"/>
              </a:rPr>
              <a:t>03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61" name="TextBox 4"/>
          <p:cNvSpPr/>
          <p:nvPr/>
        </p:nvSpPr>
        <p:spPr>
          <a:xfrm>
            <a:off x="841320" y="182880"/>
            <a:ext cx="89604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2400" spc="-1" strike="noStrike">
                <a:solidFill>
                  <a:srgbClr val="0e3865"/>
                </a:solidFill>
                <a:latin typeface="Arial"/>
                <a:ea typeface="DejaVu Sans"/>
              </a:rPr>
              <a:t>Портрет выборки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62" name="TextBox 5"/>
          <p:cNvSpPr/>
          <p:nvPr/>
        </p:nvSpPr>
        <p:spPr>
          <a:xfrm>
            <a:off x="859680" y="576000"/>
            <a:ext cx="1014912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ru-RU" sz="1160" spc="-1" strike="noStrike">
                <a:solidFill>
                  <a:srgbClr val="606b7b"/>
                </a:solidFill>
                <a:latin typeface="Arial"/>
                <a:ea typeface="DejaVu Sans"/>
              </a:rPr>
              <a:t>Большинство участников знакомо с доставкой на практике, но интенсивность использования различается</a:t>
            </a:r>
            <a:endParaRPr b="0" lang="en-US" sz="1160" spc="-1" strike="noStrike">
              <a:latin typeface="Arial"/>
            </a:endParaRPr>
          </a:p>
        </p:txBody>
      </p:sp>
      <p:sp>
        <p:nvSpPr>
          <p:cNvPr id="63" name="TextBox 6"/>
          <p:cNvSpPr/>
          <p:nvPr/>
        </p:nvSpPr>
        <p:spPr>
          <a:xfrm>
            <a:off x="685800" y="960120"/>
            <a:ext cx="109656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ru-RU" sz="2200" spc="-1" strike="noStrike">
                <a:solidFill>
                  <a:srgbClr val="0e3865"/>
                </a:solidFill>
                <a:latin typeface="Arial"/>
                <a:ea typeface="DejaVu Sans"/>
              </a:rPr>
              <a:t>60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64" name="TextBox 7"/>
          <p:cNvSpPr/>
          <p:nvPr/>
        </p:nvSpPr>
        <p:spPr>
          <a:xfrm>
            <a:off x="658440" y="1298520"/>
            <a:ext cx="115128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ru-RU" sz="950" spc="-1" strike="noStrike">
                <a:solidFill>
                  <a:srgbClr val="606b7b"/>
                </a:solidFill>
                <a:latin typeface="Arial"/>
                <a:ea typeface="DejaVu Sans"/>
              </a:rPr>
              <a:t>анкет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65" name="TextBox 8"/>
          <p:cNvSpPr/>
          <p:nvPr/>
        </p:nvSpPr>
        <p:spPr>
          <a:xfrm>
            <a:off x="1965960" y="960120"/>
            <a:ext cx="109656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ru-RU" sz="2200" spc="-1" strike="noStrike">
                <a:solidFill>
                  <a:srgbClr val="2c5aa0"/>
                </a:solidFill>
                <a:latin typeface="Arial"/>
                <a:ea typeface="DejaVu Sans"/>
              </a:rPr>
              <a:t>57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66" name="TextBox 9"/>
          <p:cNvSpPr/>
          <p:nvPr/>
        </p:nvSpPr>
        <p:spPr>
          <a:xfrm>
            <a:off x="1938600" y="1298520"/>
            <a:ext cx="115128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ru-RU" sz="950" spc="-1" strike="noStrike">
                <a:solidFill>
                  <a:srgbClr val="606b7b"/>
                </a:solidFill>
                <a:latin typeface="Arial"/>
                <a:ea typeface="DejaVu Sans"/>
              </a:rPr>
              <a:t>пользовались</a:t>
            </a:r>
            <a:br>
              <a:rPr sz="1800"/>
            </a:br>
            <a:r>
              <a:rPr b="0" lang="ru-RU" sz="950" spc="-1" strike="noStrike">
                <a:solidFill>
                  <a:srgbClr val="606b7b"/>
                </a:solidFill>
                <a:latin typeface="Arial"/>
                <a:ea typeface="DejaVu Sans"/>
              </a:rPr>
              <a:t>за 3 месяца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67" name="TextBox 10"/>
          <p:cNvSpPr/>
          <p:nvPr/>
        </p:nvSpPr>
        <p:spPr>
          <a:xfrm>
            <a:off x="3474720" y="960120"/>
            <a:ext cx="1096560" cy="7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ru-RU" sz="2200" spc="-1" strike="noStrike">
                <a:solidFill>
                  <a:srgbClr val="f28e2b"/>
                </a:solidFill>
                <a:latin typeface="Arial"/>
                <a:ea typeface="DejaVu Sans"/>
              </a:rPr>
              <a:t>3 002 ₽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68" name="TextBox 11"/>
          <p:cNvSpPr/>
          <p:nvPr/>
        </p:nvSpPr>
        <p:spPr>
          <a:xfrm>
            <a:off x="3429000" y="1600200"/>
            <a:ext cx="115128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ru-RU" sz="950" spc="-1" strike="noStrike">
                <a:solidFill>
                  <a:srgbClr val="606b7b"/>
                </a:solidFill>
                <a:latin typeface="Arial"/>
                <a:ea typeface="DejaVu Sans"/>
              </a:rPr>
              <a:t>средние</a:t>
            </a:r>
            <a:br>
              <a:rPr sz="1800"/>
            </a:br>
            <a:r>
              <a:rPr b="0" lang="ru-RU" sz="950" spc="-1" strike="noStrike">
                <a:solidFill>
                  <a:srgbClr val="606b7b"/>
                </a:solidFill>
                <a:latin typeface="Arial"/>
                <a:ea typeface="DejaVu Sans"/>
              </a:rPr>
              <a:t>расходы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69" name="TextBox 12"/>
          <p:cNvSpPr/>
          <p:nvPr/>
        </p:nvSpPr>
        <p:spPr>
          <a:xfrm>
            <a:off x="5074920" y="960120"/>
            <a:ext cx="1096560" cy="7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ru-RU" sz="2200" spc="-1" strike="noStrike">
                <a:solidFill>
                  <a:srgbClr val="43925f"/>
                </a:solidFill>
                <a:latin typeface="Arial"/>
                <a:ea typeface="DejaVu Sans"/>
              </a:rPr>
              <a:t>1 950 ₽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70" name="TextBox 13"/>
          <p:cNvSpPr/>
          <p:nvPr/>
        </p:nvSpPr>
        <p:spPr>
          <a:xfrm>
            <a:off x="5029200" y="1600200"/>
            <a:ext cx="115128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ru-RU" sz="950" spc="-1" strike="noStrike">
                <a:solidFill>
                  <a:srgbClr val="606b7b"/>
                </a:solidFill>
                <a:latin typeface="Arial"/>
                <a:ea typeface="DejaVu Sans"/>
              </a:rPr>
              <a:t>медианные</a:t>
            </a:r>
            <a:br>
              <a:rPr sz="1800"/>
            </a:br>
            <a:r>
              <a:rPr b="0" lang="ru-RU" sz="950" spc="-1" strike="noStrike">
                <a:solidFill>
                  <a:srgbClr val="606b7b"/>
                </a:solidFill>
                <a:latin typeface="Arial"/>
                <a:ea typeface="DejaVu Sans"/>
              </a:rPr>
              <a:t>расходы</a:t>
            </a:r>
            <a:endParaRPr b="0" lang="en-US" sz="950" spc="-1" strike="noStrike">
              <a:latin typeface="Arial"/>
            </a:endParaRPr>
          </a:p>
        </p:txBody>
      </p:sp>
      <p:pic>
        <p:nvPicPr>
          <p:cNvPr id="71" name="Picture 14" descr="usage_frequency_bar.png"/>
          <p:cNvPicPr/>
          <p:nvPr/>
        </p:nvPicPr>
        <p:blipFill>
          <a:blip r:embed="rId1"/>
          <a:stretch/>
        </p:blipFill>
        <p:spPr>
          <a:xfrm>
            <a:off x="731520" y="2611440"/>
            <a:ext cx="5622840" cy="2503080"/>
          </a:xfrm>
          <a:prstGeom prst="rect">
            <a:avLst/>
          </a:prstGeom>
          <a:ln w="0">
            <a:noFill/>
          </a:ln>
        </p:spPr>
      </p:pic>
      <p:sp>
        <p:nvSpPr>
          <p:cNvPr id="72" name="TextBox 16"/>
          <p:cNvSpPr/>
          <p:nvPr/>
        </p:nvSpPr>
        <p:spPr>
          <a:xfrm>
            <a:off x="841320" y="5998320"/>
            <a:ext cx="10149120" cy="46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ru-RU" sz="1240" spc="-1" strike="noStrike">
                <a:solidFill>
                  <a:srgbClr val="606b7b"/>
                </a:solidFill>
                <a:latin typeface="Arial"/>
                <a:ea typeface="DejaVu Sans"/>
              </a:rPr>
              <a:t>Вывод: в выборке нет только «случайных» ответов — большинство респондентов регулярно взаимодействует с доставкой и оценивает сервисы из личного опыта.</a:t>
            </a:r>
            <a:endParaRPr b="0" lang="en-US" sz="1240" spc="-1" strike="noStrike">
              <a:latin typeface="Arial"/>
            </a:endParaRPr>
          </a:p>
        </p:txBody>
      </p:sp>
      <p:pic>
        <p:nvPicPr>
          <p:cNvPr id="73" name="Picture 17" descr="favorite_service_bar.png"/>
          <p:cNvPicPr/>
          <p:nvPr/>
        </p:nvPicPr>
        <p:blipFill>
          <a:blip r:embed="rId2"/>
          <a:stretch/>
        </p:blipFill>
        <p:spPr>
          <a:xfrm>
            <a:off x="6492240" y="2595960"/>
            <a:ext cx="4662720" cy="2533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Rectangle 1"/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5" name="Rectangle 2"/>
          <p:cNvSpPr/>
          <p:nvPr/>
        </p:nvSpPr>
        <p:spPr>
          <a:xfrm>
            <a:off x="0" y="0"/>
            <a:ext cx="12191400" cy="109080"/>
          </a:xfrm>
          <a:prstGeom prst="rect">
            <a:avLst/>
          </a:prstGeom>
          <a:solidFill>
            <a:srgbClr val="0e386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6" name="TextBox 3"/>
          <p:cNvSpPr/>
          <p:nvPr/>
        </p:nvSpPr>
        <p:spPr>
          <a:xfrm>
            <a:off x="411480" y="210240"/>
            <a:ext cx="593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1200" spc="-1" strike="noStrike">
                <a:solidFill>
                  <a:srgbClr val="f28e2b"/>
                </a:solidFill>
                <a:latin typeface="Arial"/>
                <a:ea typeface="DejaVu Sans"/>
              </a:rPr>
              <a:t>04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77" name="TextBox 4"/>
          <p:cNvSpPr/>
          <p:nvPr/>
        </p:nvSpPr>
        <p:spPr>
          <a:xfrm>
            <a:off x="841320" y="182880"/>
            <a:ext cx="89604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2400" spc="-1" strike="noStrike">
                <a:solidFill>
                  <a:srgbClr val="0e3865"/>
                </a:solidFill>
                <a:latin typeface="Arial"/>
                <a:ea typeface="DejaVu Sans"/>
              </a:rPr>
              <a:t>Средние оценки сервисов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78" name="TextBox 5"/>
          <p:cNvSpPr/>
          <p:nvPr/>
        </p:nvSpPr>
        <p:spPr>
          <a:xfrm>
            <a:off x="859680" y="576000"/>
            <a:ext cx="1014912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ru-RU" sz="1160" spc="-1" strike="noStrike">
                <a:solidFill>
                  <a:srgbClr val="606b7b"/>
                </a:solidFill>
                <a:latin typeface="Arial"/>
                <a:ea typeface="DejaVu Sans"/>
              </a:rPr>
              <a:t>Тепловая карта позволяет увидеть, по каким критериям каждый сервис силён относительно остальных</a:t>
            </a:r>
            <a:endParaRPr b="0" lang="en-US" sz="1160" spc="-1" strike="noStrike">
              <a:latin typeface="Arial"/>
            </a:endParaRPr>
          </a:p>
        </p:txBody>
      </p:sp>
      <p:sp>
        <p:nvSpPr>
          <p:cNvPr id="79" name="TextBox 7"/>
          <p:cNvSpPr/>
          <p:nvPr/>
        </p:nvSpPr>
        <p:spPr>
          <a:xfrm>
            <a:off x="7543800" y="1261800"/>
            <a:ext cx="3245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1800" spc="-1" strike="noStrike">
                <a:solidFill>
                  <a:srgbClr val="0e3865"/>
                </a:solidFill>
                <a:latin typeface="Arial"/>
                <a:ea typeface="DejaVu Sans"/>
              </a:rPr>
              <a:t>Главные наблюдения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0" name="TextBox 8"/>
          <p:cNvSpPr/>
          <p:nvPr/>
        </p:nvSpPr>
        <p:spPr>
          <a:xfrm>
            <a:off x="7571160" y="1700640"/>
            <a:ext cx="3336840" cy="20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ru-RU" sz="1420" spc="-1" strike="noStrike">
                <a:solidFill>
                  <a:srgbClr val="1f2937"/>
                </a:solidFill>
                <a:latin typeface="Arial"/>
                <a:ea typeface="DejaVu Sans"/>
              </a:rPr>
              <a:t>Ozon Fresh получает лучшую оценку по цене.</a:t>
            </a:r>
            <a:endParaRPr b="0" lang="en-US" sz="142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ru-RU" sz="1420" spc="-1" strike="noStrike">
                <a:solidFill>
                  <a:srgbClr val="1f2937"/>
                </a:solidFill>
                <a:latin typeface="Arial"/>
                <a:ea typeface="DejaVu Sans"/>
              </a:rPr>
              <a:t>Самокат лидирует по скорости доставки.</a:t>
            </a:r>
            <a:endParaRPr b="0" lang="en-US" sz="142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ru-RU" sz="1420" spc="-1" strike="noStrike">
                <a:solidFill>
                  <a:srgbClr val="1f2937"/>
                </a:solidFill>
                <a:latin typeface="Arial"/>
                <a:ea typeface="DejaVu Sans"/>
              </a:rPr>
              <a:t>Яндекс Еда показывает максимум по общему качеству.</a:t>
            </a:r>
            <a:endParaRPr b="0" lang="en-US" sz="142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ru-RU" sz="1420" spc="-1" strike="noStrike">
                <a:solidFill>
                  <a:srgbClr val="1f2937"/>
                </a:solidFill>
                <a:latin typeface="Arial"/>
                <a:ea typeface="DejaVu Sans"/>
              </a:rPr>
              <a:t>Следовательно, у сервисов разные сильные стороны.</a:t>
            </a:r>
            <a:endParaRPr b="0" lang="en-US" sz="1420" spc="-1" strike="noStrike">
              <a:latin typeface="Arial"/>
            </a:endParaRPr>
          </a:p>
        </p:txBody>
      </p:sp>
      <p:sp>
        <p:nvSpPr>
          <p:cNvPr id="81" name="Rounded Rectangle 9"/>
          <p:cNvSpPr/>
          <p:nvPr/>
        </p:nvSpPr>
        <p:spPr>
          <a:xfrm>
            <a:off x="7571160" y="4709160"/>
            <a:ext cx="3245400" cy="959400"/>
          </a:xfrm>
          <a:prstGeom prst="roundRect">
            <a:avLst>
              <a:gd name="adj" fmla="val 16667"/>
            </a:avLst>
          </a:prstGeom>
          <a:solidFill>
            <a:srgbClr val="f4f7fb"/>
          </a:solidFill>
          <a:ln>
            <a:solidFill>
              <a:srgbClr val="e8eff7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2" name="TextBox 10"/>
          <p:cNvSpPr/>
          <p:nvPr/>
        </p:nvSpPr>
        <p:spPr>
          <a:xfrm>
            <a:off x="7699320" y="4709160"/>
            <a:ext cx="2989440" cy="90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1380" spc="-1" strike="noStrike">
                <a:solidFill>
                  <a:srgbClr val="0e3865"/>
                </a:solidFill>
                <a:latin typeface="Arial"/>
                <a:ea typeface="DejaVu Sans"/>
              </a:rPr>
              <a:t>Смысл рисунка</a:t>
            </a:r>
            <a:endParaRPr b="0" lang="en-US" sz="138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r>
              <a:rPr b="0" lang="ru-RU" sz="1210" spc="-1" strike="noStrike">
                <a:solidFill>
                  <a:srgbClr val="1f2937"/>
                </a:solidFill>
                <a:latin typeface="Arial"/>
                <a:ea typeface="DejaVu Sans"/>
              </a:rPr>
              <a:t>Одна итоговая оценка скрывает различия между критериями, поэтому дальше нужен факторный анализ.</a:t>
            </a:r>
            <a:endParaRPr b="0" lang="en-US" sz="1210" spc="-1" strike="noStrike">
              <a:latin typeface="Arial"/>
            </a:endParaRPr>
          </a:p>
        </p:txBody>
      </p:sp>
      <p:pic>
        <p:nvPicPr>
          <p:cNvPr id="83" name="Picture 11" descr="service_criteria_heatmap_annotated.png"/>
          <p:cNvPicPr/>
          <p:nvPr/>
        </p:nvPicPr>
        <p:blipFill>
          <a:blip r:embed="rId1"/>
          <a:stretch/>
        </p:blipFill>
        <p:spPr>
          <a:xfrm>
            <a:off x="658440" y="1575360"/>
            <a:ext cx="6628680" cy="3779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Rectangle 1"/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5" name="Rectangle 2"/>
          <p:cNvSpPr/>
          <p:nvPr/>
        </p:nvSpPr>
        <p:spPr>
          <a:xfrm>
            <a:off x="0" y="0"/>
            <a:ext cx="12191400" cy="109080"/>
          </a:xfrm>
          <a:prstGeom prst="rect">
            <a:avLst/>
          </a:prstGeom>
          <a:solidFill>
            <a:srgbClr val="0e386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6" name="TextBox 3"/>
          <p:cNvSpPr/>
          <p:nvPr/>
        </p:nvSpPr>
        <p:spPr>
          <a:xfrm>
            <a:off x="411480" y="210240"/>
            <a:ext cx="593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1200" spc="-1" strike="noStrike">
                <a:solidFill>
                  <a:srgbClr val="f28e2b"/>
                </a:solidFill>
                <a:latin typeface="Arial"/>
                <a:ea typeface="DejaVu Sans"/>
              </a:rPr>
              <a:t>05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87" name="TextBox 4"/>
          <p:cNvSpPr/>
          <p:nvPr/>
        </p:nvSpPr>
        <p:spPr>
          <a:xfrm>
            <a:off x="841320" y="182880"/>
            <a:ext cx="89604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2400" spc="-1" strike="noStrike">
                <a:solidFill>
                  <a:srgbClr val="0e3865"/>
                </a:solidFill>
                <a:latin typeface="Arial"/>
                <a:ea typeface="DejaVu Sans"/>
              </a:rPr>
              <a:t>Факторный анализ сервисов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88" name="TextBox 5"/>
          <p:cNvSpPr/>
          <p:nvPr/>
        </p:nvSpPr>
        <p:spPr>
          <a:xfrm>
            <a:off x="859680" y="576000"/>
            <a:ext cx="1014912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ru-RU" sz="1160" spc="-1" strike="noStrike">
                <a:solidFill>
                  <a:srgbClr val="606b7b"/>
                </a:solidFill>
                <a:latin typeface="Arial"/>
                <a:ea typeface="DejaVu Sans"/>
              </a:rPr>
              <a:t>Разведочная факторная карта: возможные сценарии восприятия сервисов, а не строго доказанные сегменты</a:t>
            </a:r>
            <a:endParaRPr b="0" lang="en-US" sz="1160" spc="-1" strike="noStrike">
              <a:latin typeface="Arial"/>
            </a:endParaRPr>
          </a:p>
        </p:txBody>
      </p:sp>
      <p:sp>
        <p:nvSpPr>
          <p:cNvPr id="89" name="TextBox 8"/>
          <p:cNvSpPr/>
          <p:nvPr/>
        </p:nvSpPr>
        <p:spPr>
          <a:xfrm>
            <a:off x="7013160" y="1500120"/>
            <a:ext cx="35992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2000" spc="-1" strike="noStrike">
                <a:solidFill>
                  <a:srgbClr val="0e3865"/>
                </a:solidFill>
                <a:latin typeface="Arial"/>
                <a:ea typeface="DejaVu Sans"/>
              </a:rPr>
              <a:t>Интерпретация факторов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90" name="TextBox 9"/>
          <p:cNvSpPr/>
          <p:nvPr/>
        </p:nvSpPr>
        <p:spPr>
          <a:xfrm>
            <a:off x="7013160" y="1950120"/>
            <a:ext cx="3599280" cy="182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ru-RU" sz="1600" spc="-1" strike="noStrike">
                <a:solidFill>
                  <a:srgbClr val="242834"/>
                </a:solidFill>
                <a:latin typeface="Arial"/>
                <a:ea typeface="DejaVu Sans"/>
              </a:rPr>
              <a:t>F1 связан с Самокатом и Ozon Fresh и отражает практичный сценарий заказа.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ru-RU" sz="1600" spc="-1" strike="noStrike">
                <a:solidFill>
                  <a:srgbClr val="242834"/>
                </a:solidFill>
                <a:latin typeface="Arial"/>
                <a:ea typeface="DejaVu Sans"/>
              </a:rPr>
              <a:t>F2 сильнее связан с Купером и Delivery Club и противопоставляется Яндекс Еде.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91" name="Rounded Rectangle 12"/>
          <p:cNvSpPr/>
          <p:nvPr/>
        </p:nvSpPr>
        <p:spPr>
          <a:xfrm>
            <a:off x="777240" y="5559480"/>
            <a:ext cx="10286280" cy="566280"/>
          </a:xfrm>
          <a:prstGeom prst="roundRect">
            <a:avLst>
              <a:gd name="adj" fmla="val 16667"/>
            </a:avLst>
          </a:prstGeom>
          <a:solidFill>
            <a:srgbClr val="f4f7fb"/>
          </a:solidFill>
          <a:ln>
            <a:solidFill>
              <a:srgbClr val="d2deec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2" name="TextBox 13"/>
          <p:cNvSpPr/>
          <p:nvPr/>
        </p:nvSpPr>
        <p:spPr>
          <a:xfrm>
            <a:off x="960120" y="5559480"/>
            <a:ext cx="9920520" cy="47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1270" spc="-1" strike="noStrike">
                <a:solidFill>
                  <a:srgbClr val="0e3865"/>
                </a:solidFill>
                <a:latin typeface="Arial"/>
                <a:ea typeface="DejaVu Sans"/>
              </a:rPr>
              <a:t>Вывод: сервисы можно условно разнести по разным сценариям использования; интерпретация факторов носит разведочный характер.</a:t>
            </a:r>
            <a:endParaRPr b="0" lang="en-US" sz="1270" spc="-1" strike="noStrike">
              <a:latin typeface="Arial"/>
            </a:endParaRPr>
          </a:p>
        </p:txBody>
      </p:sp>
      <p:pic>
        <p:nvPicPr>
          <p:cNvPr id="93" name="Picture 14" descr="object_factor_map_annotated.png"/>
          <p:cNvPicPr/>
          <p:nvPr/>
        </p:nvPicPr>
        <p:blipFill>
          <a:blip r:embed="rId1"/>
          <a:stretch/>
        </p:blipFill>
        <p:spPr>
          <a:xfrm>
            <a:off x="640080" y="1170360"/>
            <a:ext cx="5760000" cy="43797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5" name="Rectangle 2"/>
          <p:cNvSpPr/>
          <p:nvPr/>
        </p:nvSpPr>
        <p:spPr>
          <a:xfrm>
            <a:off x="0" y="0"/>
            <a:ext cx="12191400" cy="109080"/>
          </a:xfrm>
          <a:prstGeom prst="rect">
            <a:avLst/>
          </a:prstGeom>
          <a:solidFill>
            <a:srgbClr val="0e386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6" name="TextBox 3"/>
          <p:cNvSpPr/>
          <p:nvPr/>
        </p:nvSpPr>
        <p:spPr>
          <a:xfrm>
            <a:off x="411480" y="210240"/>
            <a:ext cx="593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1200" spc="-1" strike="noStrike">
                <a:solidFill>
                  <a:srgbClr val="f28e2b"/>
                </a:solidFill>
                <a:latin typeface="Arial"/>
                <a:ea typeface="DejaVu Sans"/>
              </a:rPr>
              <a:t>06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97" name="TextBox 4"/>
          <p:cNvSpPr/>
          <p:nvPr/>
        </p:nvSpPr>
        <p:spPr>
          <a:xfrm>
            <a:off x="841320" y="182880"/>
            <a:ext cx="89604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2400" spc="-1" strike="noStrike">
                <a:solidFill>
                  <a:srgbClr val="0e3865"/>
                </a:solidFill>
                <a:latin typeface="Arial"/>
                <a:ea typeface="DejaVu Sans"/>
              </a:rPr>
              <a:t>Факторный анализ характеристик экспертов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98" name="TextBox 5"/>
          <p:cNvSpPr/>
          <p:nvPr/>
        </p:nvSpPr>
        <p:spPr>
          <a:xfrm>
            <a:off x="859680" y="576000"/>
            <a:ext cx="1014912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ru-RU" sz="1160" spc="-1" strike="noStrike">
                <a:solidFill>
                  <a:srgbClr val="606b7b"/>
                </a:solidFill>
                <a:latin typeface="Arial"/>
                <a:ea typeface="DejaVu Sans"/>
              </a:rPr>
              <a:t>Важно не только то, каковы сервисы, но и кто именно их оценивает</a:t>
            </a:r>
            <a:endParaRPr b="0" lang="en-US" sz="1160" spc="-1" strike="noStrike">
              <a:latin typeface="Arial"/>
            </a:endParaRPr>
          </a:p>
        </p:txBody>
      </p:sp>
      <p:sp>
        <p:nvSpPr>
          <p:cNvPr id="99" name="TextBox 7"/>
          <p:cNvSpPr/>
          <p:nvPr/>
        </p:nvSpPr>
        <p:spPr>
          <a:xfrm>
            <a:off x="8046720" y="1234440"/>
            <a:ext cx="2742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1800" spc="-1" strike="noStrike">
                <a:solidFill>
                  <a:srgbClr val="0e3865"/>
                </a:solidFill>
                <a:latin typeface="Arial"/>
                <a:ea typeface="DejaVu Sans"/>
              </a:rPr>
              <a:t>Что влияет сильнее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0" name="TextBox 8"/>
          <p:cNvSpPr/>
          <p:nvPr/>
        </p:nvSpPr>
        <p:spPr>
          <a:xfrm>
            <a:off x="8065080" y="1664280"/>
            <a:ext cx="2907000" cy="20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ru-RU" sz="1390" spc="-1" strike="noStrike">
                <a:solidFill>
                  <a:srgbClr val="1f2937"/>
                </a:solidFill>
                <a:latin typeface="Arial"/>
                <a:ea typeface="DejaVu Sans"/>
              </a:rPr>
              <a:t>F1: вовлечённость в доставку — 30,2%.</a:t>
            </a:r>
            <a:endParaRPr b="0" lang="en-US" sz="139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ru-RU" sz="1390" spc="-1" strike="noStrike">
                <a:solidFill>
                  <a:srgbClr val="1f2937"/>
                </a:solidFill>
                <a:latin typeface="Arial"/>
                <a:ea typeface="DejaVu Sans"/>
              </a:rPr>
              <a:t>F2: скорость и ассортимент — 13,1%.</a:t>
            </a:r>
            <a:endParaRPr b="0" lang="en-US" sz="139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ru-RU" sz="1390" spc="-1" strike="noStrike">
                <a:solidFill>
                  <a:srgbClr val="1f2937"/>
                </a:solidFill>
                <a:latin typeface="Arial"/>
                <a:ea typeface="DejaVu Sans"/>
              </a:rPr>
              <a:t>F3: цена, скидки и удобство — 12,6%.</a:t>
            </a:r>
            <a:endParaRPr b="0" lang="en-US" sz="139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ru-RU" sz="1390" spc="-1" strike="noStrike">
                <a:solidFill>
                  <a:srgbClr val="1f2937"/>
                </a:solidFill>
                <a:latin typeface="Arial"/>
                <a:ea typeface="DejaVu Sans"/>
              </a:rPr>
              <a:t>F4: точность времени и поддержка — 9,0%.</a:t>
            </a:r>
            <a:endParaRPr b="0" lang="en-US" sz="1390" spc="-1" strike="noStrike">
              <a:latin typeface="Arial"/>
            </a:endParaRPr>
          </a:p>
        </p:txBody>
      </p:sp>
      <p:sp>
        <p:nvSpPr>
          <p:cNvPr id="101" name="Rounded Rectangle 9"/>
          <p:cNvSpPr/>
          <p:nvPr/>
        </p:nvSpPr>
        <p:spPr>
          <a:xfrm>
            <a:off x="8046720" y="4370760"/>
            <a:ext cx="2833920" cy="1801080"/>
          </a:xfrm>
          <a:prstGeom prst="roundRect">
            <a:avLst>
              <a:gd name="adj" fmla="val 16667"/>
            </a:avLst>
          </a:prstGeom>
          <a:solidFill>
            <a:srgbClr val="f4f7fb"/>
          </a:solidFill>
          <a:ln>
            <a:solidFill>
              <a:srgbClr val="e8eff7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2" name="TextBox 10"/>
          <p:cNvSpPr/>
          <p:nvPr/>
        </p:nvSpPr>
        <p:spPr>
          <a:xfrm>
            <a:off x="8183520" y="4572000"/>
            <a:ext cx="2697120" cy="145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1380" spc="-1" strike="noStrike">
                <a:solidFill>
                  <a:srgbClr val="0e3865"/>
                </a:solidFill>
                <a:latin typeface="Arial"/>
                <a:ea typeface="DejaVu Sans"/>
              </a:rPr>
              <a:t>Ключевой вывод</a:t>
            </a:r>
            <a:endParaRPr b="0" lang="en-US" sz="138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r>
              <a:rPr b="0" lang="ru-RU" sz="1210" spc="-1" strike="noStrike">
                <a:solidFill>
                  <a:srgbClr val="1f2937"/>
                </a:solidFill>
                <a:latin typeface="Arial"/>
                <a:ea typeface="DejaVu Sans"/>
              </a:rPr>
              <a:t>Самый сильный фактор — вовлечённость в доставку. Значит, различия в ответах в первую очередь задаются частотой заказов, расходами и пользовательским опытом.</a:t>
            </a:r>
            <a:endParaRPr b="0" lang="en-US" sz="1210" spc="-1" strike="noStrike">
              <a:latin typeface="Arial"/>
            </a:endParaRPr>
          </a:p>
        </p:txBody>
      </p:sp>
      <p:pic>
        <p:nvPicPr>
          <p:cNvPr id="103" name="Picture 11" descr="expert_factor_top_loadings.png"/>
          <p:cNvPicPr/>
          <p:nvPr/>
        </p:nvPicPr>
        <p:blipFill>
          <a:blip r:embed="rId1"/>
          <a:stretch/>
        </p:blipFill>
        <p:spPr>
          <a:xfrm>
            <a:off x="617040" y="1024200"/>
            <a:ext cx="7223760" cy="49827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Rectangle 1"/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5" name="Rectangle 2"/>
          <p:cNvSpPr/>
          <p:nvPr/>
        </p:nvSpPr>
        <p:spPr>
          <a:xfrm>
            <a:off x="0" y="0"/>
            <a:ext cx="12191400" cy="109080"/>
          </a:xfrm>
          <a:prstGeom prst="rect">
            <a:avLst/>
          </a:prstGeom>
          <a:solidFill>
            <a:srgbClr val="0e386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6" name="TextBox 3"/>
          <p:cNvSpPr/>
          <p:nvPr/>
        </p:nvSpPr>
        <p:spPr>
          <a:xfrm>
            <a:off x="411480" y="210240"/>
            <a:ext cx="593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1200" spc="-1" strike="noStrike">
                <a:solidFill>
                  <a:srgbClr val="f28e2b"/>
                </a:solidFill>
                <a:latin typeface="Arial"/>
                <a:ea typeface="DejaVu Sans"/>
              </a:rPr>
              <a:t>07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07" name="TextBox 4"/>
          <p:cNvSpPr/>
          <p:nvPr/>
        </p:nvSpPr>
        <p:spPr>
          <a:xfrm>
            <a:off x="841320" y="182880"/>
            <a:ext cx="89604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2400" spc="-1" strike="noStrike">
                <a:solidFill>
                  <a:srgbClr val="0e3865"/>
                </a:solidFill>
                <a:latin typeface="Arial"/>
                <a:ea typeface="DejaVu Sans"/>
              </a:rPr>
              <a:t>Согласованность экспертных оценок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08" name="TextBox 5"/>
          <p:cNvSpPr/>
          <p:nvPr/>
        </p:nvSpPr>
        <p:spPr>
          <a:xfrm>
            <a:off x="859680" y="576000"/>
            <a:ext cx="1014912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ru-RU" sz="1160" spc="-1" strike="noStrike">
                <a:solidFill>
                  <a:srgbClr val="606b7b"/>
                </a:solidFill>
                <a:latin typeface="Arial"/>
                <a:ea typeface="DejaVu Sans"/>
              </a:rPr>
              <a:t>Проверяем, можно ли говорить о едином мнении группы</a:t>
            </a:r>
            <a:endParaRPr b="0" lang="en-US" sz="1160" spc="-1" strike="noStrike">
              <a:latin typeface="Arial"/>
            </a:endParaRPr>
          </a:p>
        </p:txBody>
      </p:sp>
      <p:sp>
        <p:nvSpPr>
          <p:cNvPr id="109" name="TextBox 6"/>
          <p:cNvSpPr/>
          <p:nvPr/>
        </p:nvSpPr>
        <p:spPr>
          <a:xfrm>
            <a:off x="822960" y="1097280"/>
            <a:ext cx="146232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ru-RU" sz="2200" spc="-1" strike="noStrike">
                <a:solidFill>
                  <a:srgbClr val="0e3865"/>
                </a:solidFill>
                <a:latin typeface="Arial"/>
                <a:ea typeface="DejaVu Sans"/>
              </a:rPr>
              <a:t>χ² = 33,11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795600" y="1435680"/>
            <a:ext cx="15170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ru-RU" sz="950" spc="-1" strike="noStrike">
                <a:solidFill>
                  <a:srgbClr val="606b7b"/>
                </a:solidFill>
                <a:latin typeface="Arial"/>
                <a:ea typeface="DejaVu Sans"/>
              </a:rPr>
              <a:t>критерий</a:t>
            </a:r>
            <a:br>
              <a:rPr sz="1800"/>
            </a:br>
            <a:r>
              <a:rPr b="0" lang="ru-RU" sz="950" spc="-1" strike="noStrike">
                <a:solidFill>
                  <a:srgbClr val="606b7b"/>
                </a:solidFill>
                <a:latin typeface="Arial"/>
                <a:ea typeface="DejaVu Sans"/>
              </a:rPr>
              <a:t>Фридмана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2651760" y="1097280"/>
            <a:ext cx="146232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ru-RU" sz="2200" spc="-1" strike="noStrike">
                <a:solidFill>
                  <a:srgbClr val="f28e2b"/>
                </a:solidFill>
                <a:latin typeface="Arial"/>
                <a:ea typeface="DejaVu Sans"/>
              </a:rPr>
              <a:t>p &lt; 0,001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112" name="TextBox 9"/>
          <p:cNvSpPr/>
          <p:nvPr/>
        </p:nvSpPr>
        <p:spPr>
          <a:xfrm>
            <a:off x="2624400" y="1435680"/>
            <a:ext cx="15170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ru-RU" sz="950" spc="-1" strike="noStrike">
                <a:solidFill>
                  <a:srgbClr val="606b7b"/>
                </a:solidFill>
                <a:latin typeface="Arial"/>
                <a:ea typeface="DejaVu Sans"/>
              </a:rPr>
              <a:t>различия</a:t>
            </a:r>
            <a:br>
              <a:rPr sz="1800"/>
            </a:br>
            <a:r>
              <a:rPr b="0" lang="ru-RU" sz="950" spc="-1" strike="noStrike">
                <a:solidFill>
                  <a:srgbClr val="606b7b"/>
                </a:solidFill>
                <a:latin typeface="Arial"/>
                <a:ea typeface="DejaVu Sans"/>
              </a:rPr>
              <a:t>значимы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113" name="TextBox 10"/>
          <p:cNvSpPr/>
          <p:nvPr/>
        </p:nvSpPr>
        <p:spPr>
          <a:xfrm>
            <a:off x="4480560" y="1097280"/>
            <a:ext cx="146232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ru-RU" sz="2200" spc="-1" strike="noStrike">
                <a:solidFill>
                  <a:srgbClr val="2c5aa0"/>
                </a:solidFill>
                <a:latin typeface="Arial"/>
                <a:ea typeface="DejaVu Sans"/>
              </a:rPr>
              <a:t>W = 0,138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114" name="TextBox 11"/>
          <p:cNvSpPr/>
          <p:nvPr/>
        </p:nvSpPr>
        <p:spPr>
          <a:xfrm>
            <a:off x="4453200" y="1435680"/>
            <a:ext cx="15170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ru-RU" sz="950" spc="-1" strike="noStrike">
                <a:solidFill>
                  <a:srgbClr val="606b7b"/>
                </a:solidFill>
                <a:latin typeface="Arial"/>
                <a:ea typeface="DejaVu Sans"/>
              </a:rPr>
              <a:t>конкордация</a:t>
            </a:r>
            <a:br>
              <a:rPr sz="1800"/>
            </a:br>
            <a:r>
              <a:rPr b="0" lang="ru-RU" sz="950" spc="-1" strike="noStrike">
                <a:solidFill>
                  <a:srgbClr val="606b7b"/>
                </a:solidFill>
                <a:latin typeface="Arial"/>
                <a:ea typeface="DejaVu Sans"/>
              </a:rPr>
              <a:t>в полной выборке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115" name="TextBox 12"/>
          <p:cNvSpPr/>
          <p:nvPr/>
        </p:nvSpPr>
        <p:spPr>
          <a:xfrm>
            <a:off x="6492240" y="1097280"/>
            <a:ext cx="146232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ru-RU" sz="2200" spc="-1" strike="noStrike">
                <a:solidFill>
                  <a:srgbClr val="43925f"/>
                </a:solidFill>
                <a:latin typeface="Arial"/>
                <a:ea typeface="DejaVu Sans"/>
              </a:rPr>
              <a:t>W = 0,132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116" name="TextBox 13"/>
          <p:cNvSpPr/>
          <p:nvPr/>
        </p:nvSpPr>
        <p:spPr>
          <a:xfrm>
            <a:off x="6464880" y="1435680"/>
            <a:ext cx="15170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ru-RU" sz="950" spc="-1" strike="noStrike">
                <a:solidFill>
                  <a:srgbClr val="606b7b"/>
                </a:solidFill>
                <a:latin typeface="Arial"/>
                <a:ea typeface="DejaVu Sans"/>
              </a:rPr>
              <a:t>после проверки</a:t>
            </a:r>
            <a:br>
              <a:rPr sz="1800"/>
            </a:br>
            <a:r>
              <a:rPr b="0" lang="ru-RU" sz="950" spc="-1" strike="noStrike">
                <a:solidFill>
                  <a:srgbClr val="606b7b"/>
                </a:solidFill>
                <a:latin typeface="Arial"/>
                <a:ea typeface="DejaVu Sans"/>
              </a:rPr>
              <a:t>устойчивости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117" name="TextBox 15"/>
          <p:cNvSpPr/>
          <p:nvPr/>
        </p:nvSpPr>
        <p:spPr>
          <a:xfrm>
            <a:off x="6903720" y="2194560"/>
            <a:ext cx="36568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1800" spc="-1" strike="noStrike">
                <a:solidFill>
                  <a:srgbClr val="0e3865"/>
                </a:solidFill>
                <a:latin typeface="Arial"/>
                <a:ea typeface="DejaVu Sans"/>
              </a:rPr>
              <a:t>Что это означает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8" name="TextBox 16"/>
          <p:cNvSpPr/>
          <p:nvPr/>
        </p:nvSpPr>
        <p:spPr>
          <a:xfrm>
            <a:off x="6903720" y="2633400"/>
            <a:ext cx="3748320" cy="190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ru-RU" sz="1320" spc="-1" strike="noStrike">
                <a:solidFill>
                  <a:srgbClr val="242834"/>
                </a:solidFill>
                <a:latin typeface="Arial"/>
                <a:ea typeface="DejaVu Sans"/>
              </a:rPr>
              <a:t>Сервисы различаются статистически значимо.</a:t>
            </a:r>
            <a:endParaRPr b="0" lang="en-US" sz="132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ru-RU" sz="1320" spc="-1" strike="noStrike">
                <a:solidFill>
                  <a:srgbClr val="242834"/>
                </a:solidFill>
                <a:latin typeface="Arial"/>
                <a:ea typeface="DejaVu Sans"/>
              </a:rPr>
              <a:t>Но коэффициент W невысок, поэтому полного единодушия нет.</a:t>
            </a:r>
            <a:endParaRPr b="0" lang="en-US" sz="132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ru-RU" sz="1320" spc="-1" strike="noStrike">
                <a:solidFill>
                  <a:srgbClr val="242834"/>
                </a:solidFill>
                <a:latin typeface="Arial"/>
                <a:ea typeface="DejaVu Sans"/>
              </a:rPr>
              <a:t>Пост-хок Уилкоксон + Холм: Самокат значимо выше Delivery Club, Купера и Ozon Fresh.</a:t>
            </a:r>
            <a:endParaRPr b="0" lang="en-US" sz="132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ru-RU" sz="1320" spc="-1" strike="noStrike">
                <a:solidFill>
                  <a:srgbClr val="242834"/>
                </a:solidFill>
                <a:latin typeface="Arial"/>
                <a:ea typeface="DejaVu Sans"/>
              </a:rPr>
              <a:t>Отличие Самоката от Яндекс Еды статистически не подтверждается.</a:t>
            </a:r>
            <a:endParaRPr b="0" lang="en-US" sz="1320" spc="-1" strike="noStrike">
              <a:latin typeface="Arial"/>
            </a:endParaRPr>
          </a:p>
        </p:txBody>
      </p:sp>
      <p:sp>
        <p:nvSpPr>
          <p:cNvPr id="119" name="Rounded Rectangle 17"/>
          <p:cNvSpPr/>
          <p:nvPr/>
        </p:nvSpPr>
        <p:spPr>
          <a:xfrm>
            <a:off x="6903720" y="4938120"/>
            <a:ext cx="3702600" cy="776520"/>
          </a:xfrm>
          <a:prstGeom prst="roundRect">
            <a:avLst>
              <a:gd name="adj" fmla="val 16667"/>
            </a:avLst>
          </a:prstGeom>
          <a:solidFill>
            <a:srgbClr val="f4f7fb"/>
          </a:solidFill>
          <a:ln>
            <a:solidFill>
              <a:srgbClr val="e8eff7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0" name="TextBox 18"/>
          <p:cNvSpPr/>
          <p:nvPr/>
        </p:nvSpPr>
        <p:spPr>
          <a:xfrm>
            <a:off x="6903720" y="5029200"/>
            <a:ext cx="3446640" cy="68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ru-RU" sz="1300" spc="-1" strike="noStrike">
                <a:solidFill>
                  <a:srgbClr val="242834"/>
                </a:solidFill>
                <a:latin typeface="Arial"/>
                <a:ea typeface="DejaVu Sans"/>
              </a:rPr>
              <a:t>Вывод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ru-RU" sz="1300" spc="-1" strike="noStrike">
                <a:solidFill>
                  <a:srgbClr val="242834"/>
                </a:solidFill>
                <a:latin typeface="Arial"/>
                <a:ea typeface="DejaVu Sans"/>
              </a:rPr>
              <a:t>Рейтинг — усреднённая тенденция, а не полный экспертный консенсус.</a:t>
            </a:r>
            <a:endParaRPr b="0" lang="en-US" sz="1300" spc="-1" strike="noStrike">
              <a:latin typeface="Arial"/>
            </a:endParaRPr>
          </a:p>
        </p:txBody>
      </p:sp>
      <p:pic>
        <p:nvPicPr>
          <p:cNvPr id="121" name="Picture 19" descr="mean_ranks_bar.png"/>
          <p:cNvPicPr/>
          <p:nvPr/>
        </p:nvPicPr>
        <p:blipFill>
          <a:blip r:embed="rId1"/>
          <a:stretch/>
        </p:blipFill>
        <p:spPr>
          <a:xfrm>
            <a:off x="749880" y="2379240"/>
            <a:ext cx="5851440" cy="3058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Rectangle 1"/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3" name="Rectangle 2"/>
          <p:cNvSpPr/>
          <p:nvPr/>
        </p:nvSpPr>
        <p:spPr>
          <a:xfrm>
            <a:off x="0" y="0"/>
            <a:ext cx="12191400" cy="109080"/>
          </a:xfrm>
          <a:prstGeom prst="rect">
            <a:avLst/>
          </a:prstGeom>
          <a:solidFill>
            <a:srgbClr val="0e386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4" name="TextBox 3"/>
          <p:cNvSpPr/>
          <p:nvPr/>
        </p:nvSpPr>
        <p:spPr>
          <a:xfrm>
            <a:off x="411480" y="210240"/>
            <a:ext cx="593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1200" spc="-1" strike="noStrike">
                <a:solidFill>
                  <a:srgbClr val="f28e2b"/>
                </a:solidFill>
                <a:latin typeface="Arial"/>
                <a:ea typeface="DejaVu Sans"/>
              </a:rPr>
              <a:t>08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25" name="TextBox 4"/>
          <p:cNvSpPr/>
          <p:nvPr/>
        </p:nvSpPr>
        <p:spPr>
          <a:xfrm>
            <a:off x="841320" y="182880"/>
            <a:ext cx="89604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2400" spc="-1" strike="noStrike">
                <a:solidFill>
                  <a:srgbClr val="0e3865"/>
                </a:solidFill>
                <a:latin typeface="Arial"/>
                <a:ea typeface="DejaVu Sans"/>
              </a:rPr>
              <a:t>Регрессионная модель: постановка задачи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26" name="TextBox 5"/>
          <p:cNvSpPr/>
          <p:nvPr/>
        </p:nvSpPr>
        <p:spPr>
          <a:xfrm>
            <a:off x="859680" y="576000"/>
            <a:ext cx="1014912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ru-RU" sz="1160" spc="-1" strike="noStrike">
                <a:solidFill>
                  <a:srgbClr val="606b7b"/>
                </a:solidFill>
                <a:latin typeface="Arial"/>
                <a:ea typeface="DejaVu Sans"/>
              </a:rPr>
              <a:t>Важно явно показать целевую переменную, источник данных и проверку качества модели</a:t>
            </a:r>
            <a:endParaRPr b="0" lang="en-US" sz="1160" spc="-1" strike="noStrike">
              <a:latin typeface="Arial"/>
            </a:endParaRPr>
          </a:p>
        </p:txBody>
      </p:sp>
      <p:sp>
        <p:nvSpPr>
          <p:cNvPr id="127" name="Rounded Rectangle 6"/>
          <p:cNvSpPr/>
          <p:nvPr/>
        </p:nvSpPr>
        <p:spPr>
          <a:xfrm>
            <a:off x="731520" y="1115640"/>
            <a:ext cx="3291120" cy="1325160"/>
          </a:xfrm>
          <a:prstGeom prst="roundRect">
            <a:avLst>
              <a:gd name="adj" fmla="val 16667"/>
            </a:avLst>
          </a:prstGeom>
          <a:solidFill>
            <a:srgbClr val="f4f7fb"/>
          </a:solidFill>
          <a:ln>
            <a:solidFill>
              <a:srgbClr val="e8eff7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8" name="TextBox 7"/>
          <p:cNvSpPr/>
          <p:nvPr/>
        </p:nvSpPr>
        <p:spPr>
          <a:xfrm>
            <a:off x="859680" y="1225440"/>
            <a:ext cx="3035160" cy="90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1380" spc="-1" strike="noStrike">
                <a:solidFill>
                  <a:srgbClr val="0e3865"/>
                </a:solidFill>
                <a:latin typeface="Arial"/>
                <a:ea typeface="DejaVu Sans"/>
              </a:rPr>
              <a:t>Целевая переменная</a:t>
            </a:r>
            <a:endParaRPr b="0" lang="en-US" sz="138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r>
              <a:rPr b="0" lang="ru-RU" sz="1210" spc="-1" strike="noStrike">
                <a:solidFill>
                  <a:srgbClr val="1f2937"/>
                </a:solidFill>
                <a:latin typeface="Arial"/>
                <a:ea typeface="DejaVu Sans"/>
              </a:rPr>
              <a:t>Готовность рекомендовать чаще используемый сервис другим студентам (шкала от 1 до 10).</a:t>
            </a:r>
            <a:endParaRPr b="0" lang="en-US" sz="1210" spc="-1" strike="noStrike">
              <a:latin typeface="Arial"/>
            </a:endParaRPr>
          </a:p>
        </p:txBody>
      </p:sp>
      <p:sp>
        <p:nvSpPr>
          <p:cNvPr id="129" name="Rounded Rectangle 8"/>
          <p:cNvSpPr/>
          <p:nvPr/>
        </p:nvSpPr>
        <p:spPr>
          <a:xfrm>
            <a:off x="4187880" y="1115640"/>
            <a:ext cx="3291120" cy="1325160"/>
          </a:xfrm>
          <a:prstGeom prst="roundRect">
            <a:avLst>
              <a:gd name="adj" fmla="val 16667"/>
            </a:avLst>
          </a:prstGeom>
          <a:solidFill>
            <a:srgbClr val="f9fafc"/>
          </a:solidFill>
          <a:ln>
            <a:solidFill>
              <a:srgbClr val="e8eff7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0" name="TextBox 9"/>
          <p:cNvSpPr/>
          <p:nvPr/>
        </p:nvSpPr>
        <p:spPr>
          <a:xfrm>
            <a:off x="4316040" y="1225440"/>
            <a:ext cx="3035160" cy="108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1380" spc="-1" strike="noStrike">
                <a:solidFill>
                  <a:srgbClr val="0e3865"/>
                </a:solidFill>
                <a:latin typeface="Arial"/>
                <a:ea typeface="DejaVu Sans"/>
              </a:rPr>
              <a:t>Откуда данные</a:t>
            </a:r>
            <a:endParaRPr b="0" lang="en-US" sz="138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r>
              <a:rPr b="0" lang="ru-RU" sz="1210" spc="-1" strike="noStrike">
                <a:solidFill>
                  <a:srgbClr val="1f2937"/>
                </a:solidFill>
                <a:latin typeface="Arial"/>
                <a:ea typeface="DejaVu Sans"/>
              </a:rPr>
              <a:t>Признаки берутся из объединённой таблицы ответов: оценка сервиса, частота заказов, расходы, сравнение цен и важность критериев выбора.</a:t>
            </a:r>
            <a:endParaRPr b="0" lang="en-US" sz="1210" spc="-1" strike="noStrike">
              <a:latin typeface="Arial"/>
            </a:endParaRPr>
          </a:p>
        </p:txBody>
      </p:sp>
      <p:sp>
        <p:nvSpPr>
          <p:cNvPr id="131" name="Rounded Rectangle 10"/>
          <p:cNvSpPr/>
          <p:nvPr/>
        </p:nvSpPr>
        <p:spPr>
          <a:xfrm>
            <a:off x="7644240" y="1115640"/>
            <a:ext cx="3291120" cy="1325160"/>
          </a:xfrm>
          <a:prstGeom prst="roundRect">
            <a:avLst>
              <a:gd name="adj" fmla="val 16667"/>
            </a:avLst>
          </a:prstGeom>
          <a:solidFill>
            <a:srgbClr val="f4f7fb"/>
          </a:solidFill>
          <a:ln>
            <a:solidFill>
              <a:srgbClr val="e8eff7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2" name="TextBox 11"/>
          <p:cNvSpPr/>
          <p:nvPr/>
        </p:nvSpPr>
        <p:spPr>
          <a:xfrm>
            <a:off x="7772400" y="1225440"/>
            <a:ext cx="3035160" cy="108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1380" spc="-1" strike="noStrike">
                <a:solidFill>
                  <a:srgbClr val="0e3865"/>
                </a:solidFill>
                <a:latin typeface="Arial"/>
                <a:ea typeface="DejaVu Sans"/>
              </a:rPr>
              <a:t>Как проверяли</a:t>
            </a:r>
            <a:endParaRPr b="0" lang="en-US" sz="138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r>
              <a:rPr b="0" lang="ru-RU" sz="1210" spc="-1" strike="noStrike">
                <a:solidFill>
                  <a:srgbClr val="1f2937"/>
                </a:solidFill>
                <a:latin typeface="Arial"/>
                <a:ea typeface="DejaVu Sans"/>
              </a:rPr>
              <a:t>OLS-оценивание; анализ R², F-статистики, t-статистик, p-value и графика фактических и предсказанных значений.</a:t>
            </a:r>
            <a:endParaRPr b="0" lang="en-US" sz="1210" spc="-1" strike="noStrike">
              <a:latin typeface="Arial"/>
            </a:endParaRPr>
          </a:p>
        </p:txBody>
      </p:sp>
      <p:sp>
        <p:nvSpPr>
          <p:cNvPr id="133" name="TextBox 13"/>
          <p:cNvSpPr/>
          <p:nvPr/>
        </p:nvSpPr>
        <p:spPr>
          <a:xfrm>
            <a:off x="5897880" y="2907720"/>
            <a:ext cx="4754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1800" spc="-1" strike="noStrike">
                <a:solidFill>
                  <a:srgbClr val="0e3865"/>
                </a:solidFill>
                <a:latin typeface="Arial"/>
                <a:ea typeface="DejaVu Sans"/>
              </a:rPr>
              <a:t>Почему график важен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4" name="TextBox 14"/>
          <p:cNvSpPr/>
          <p:nvPr/>
        </p:nvSpPr>
        <p:spPr>
          <a:xfrm>
            <a:off x="5897880" y="3328560"/>
            <a:ext cx="4891320" cy="90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ru-RU" sz="1340" spc="-1" strike="noStrike">
                <a:solidFill>
                  <a:srgbClr val="242834"/>
                </a:solidFill>
                <a:latin typeface="Arial"/>
                <a:ea typeface="DejaVu Sans"/>
              </a:rPr>
              <a:t>Чем ближе точки к диагонали, тем лучше модель описывает данные. Здесь модель улавливает общий уровень, но остаётся объяснительной, а не прогнозной.</a:t>
            </a:r>
            <a:endParaRPr b="0" lang="en-US" sz="134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ru-RU" sz="1340" spc="-1" strike="noStrike">
                <a:solidFill>
                  <a:srgbClr val="242834"/>
                </a:solidFill>
                <a:latin typeface="Arial"/>
                <a:ea typeface="DejaVu Sans"/>
              </a:rPr>
              <a:t>R² = 0,636; RMSE = 1,18; MAE = 0,92.</a:t>
            </a:r>
            <a:endParaRPr b="0" lang="en-US" sz="1340" spc="-1" strike="noStrike">
              <a:latin typeface="Arial"/>
            </a:endParaRPr>
          </a:p>
        </p:txBody>
      </p:sp>
      <p:pic>
        <p:nvPicPr>
          <p:cNvPr id="135" name="Picture 15" descr="regression_actual_vs_predicted_annotated.png"/>
          <p:cNvPicPr/>
          <p:nvPr/>
        </p:nvPicPr>
        <p:blipFill>
          <a:blip r:embed="rId1"/>
          <a:stretch/>
        </p:blipFill>
        <p:spPr>
          <a:xfrm>
            <a:off x="1143000" y="2743200"/>
            <a:ext cx="4077360" cy="2879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Rectangle 1"/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7" name="Rectangle 2"/>
          <p:cNvSpPr/>
          <p:nvPr/>
        </p:nvSpPr>
        <p:spPr>
          <a:xfrm>
            <a:off x="0" y="0"/>
            <a:ext cx="12191400" cy="109080"/>
          </a:xfrm>
          <a:prstGeom prst="rect">
            <a:avLst/>
          </a:prstGeom>
          <a:solidFill>
            <a:srgbClr val="0e386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8" name="TextBox 3"/>
          <p:cNvSpPr/>
          <p:nvPr/>
        </p:nvSpPr>
        <p:spPr>
          <a:xfrm>
            <a:off x="411480" y="210240"/>
            <a:ext cx="593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1200" spc="-1" strike="noStrike">
                <a:solidFill>
                  <a:srgbClr val="f28e2b"/>
                </a:solidFill>
                <a:latin typeface="Arial"/>
                <a:ea typeface="DejaVu Sans"/>
              </a:rPr>
              <a:t>09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39" name="TextBox 4"/>
          <p:cNvSpPr/>
          <p:nvPr/>
        </p:nvSpPr>
        <p:spPr>
          <a:xfrm>
            <a:off x="841320" y="182880"/>
            <a:ext cx="89604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2400" spc="-1" strike="noStrike">
                <a:solidFill>
                  <a:srgbClr val="0e3865"/>
                </a:solidFill>
                <a:latin typeface="Arial"/>
                <a:ea typeface="DejaVu Sans"/>
              </a:rPr>
              <a:t>Регрессионная модель: интерпретация коэффициентов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40" name="TextBox 5"/>
          <p:cNvSpPr/>
          <p:nvPr/>
        </p:nvSpPr>
        <p:spPr>
          <a:xfrm>
            <a:off x="859680" y="576000"/>
            <a:ext cx="1014912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ru-RU" sz="1160" spc="-1" strike="noStrike">
                <a:solidFill>
                  <a:srgbClr val="606b7b"/>
                </a:solidFill>
                <a:latin typeface="Arial"/>
                <a:ea typeface="DejaVu Sans"/>
              </a:rPr>
              <a:t>Смотрим, какие факторы действительно связаны с готовностью рекомендовать сервис</a:t>
            </a:r>
            <a:endParaRPr b="0" lang="en-US" sz="1160" spc="-1" strike="noStrike">
              <a:latin typeface="Arial"/>
            </a:endParaRPr>
          </a:p>
        </p:txBody>
      </p:sp>
      <p:sp>
        <p:nvSpPr>
          <p:cNvPr id="141" name="TextBox 7"/>
          <p:cNvSpPr/>
          <p:nvPr/>
        </p:nvSpPr>
        <p:spPr>
          <a:xfrm>
            <a:off x="8183880" y="1234440"/>
            <a:ext cx="2696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1800" spc="-1" strike="noStrike">
                <a:solidFill>
                  <a:srgbClr val="0e3865"/>
                </a:solidFill>
                <a:latin typeface="Arial"/>
                <a:ea typeface="DejaVu Sans"/>
              </a:rPr>
              <a:t>Значимые факторы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42" name="TextBox 8"/>
          <p:cNvSpPr/>
          <p:nvPr/>
        </p:nvSpPr>
        <p:spPr>
          <a:xfrm>
            <a:off x="8211240" y="1673280"/>
            <a:ext cx="2833920" cy="154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ru-RU" sz="1420" spc="-1" strike="noStrike">
                <a:solidFill>
                  <a:srgbClr val="1f2937"/>
                </a:solidFill>
                <a:latin typeface="Arial"/>
                <a:ea typeface="DejaVu Sans"/>
              </a:rPr>
              <a:t>расходы на доставку: положительная связь;</a:t>
            </a:r>
            <a:endParaRPr b="0" lang="en-US" sz="142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ru-RU" sz="1420" spc="-1" strike="noStrike">
                <a:solidFill>
                  <a:srgbClr val="1f2937"/>
                </a:solidFill>
                <a:latin typeface="Arial"/>
                <a:ea typeface="DejaVu Sans"/>
              </a:rPr>
              <a:t>сравнение цен: положительная связь;</a:t>
            </a:r>
            <a:endParaRPr b="0" lang="en-US" sz="142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ru-RU" sz="1420" spc="-1" strike="noStrike">
                <a:solidFill>
                  <a:srgbClr val="1f2937"/>
                </a:solidFill>
                <a:latin typeface="Arial"/>
                <a:ea typeface="DejaVu Sans"/>
              </a:rPr>
              <a:t>важность цены: отрицательная связь.</a:t>
            </a:r>
            <a:endParaRPr b="0" lang="en-US" sz="1420" spc="-1" strike="noStrike">
              <a:latin typeface="Arial"/>
            </a:endParaRPr>
          </a:p>
        </p:txBody>
      </p:sp>
      <p:sp>
        <p:nvSpPr>
          <p:cNvPr id="143" name="Rounded Rectangle 9"/>
          <p:cNvSpPr/>
          <p:nvPr/>
        </p:nvSpPr>
        <p:spPr>
          <a:xfrm>
            <a:off x="7899840" y="4443840"/>
            <a:ext cx="3299400" cy="1499400"/>
          </a:xfrm>
          <a:prstGeom prst="roundRect">
            <a:avLst>
              <a:gd name="adj" fmla="val 16667"/>
            </a:avLst>
          </a:prstGeom>
          <a:solidFill>
            <a:srgbClr val="f4f7fb"/>
          </a:solidFill>
          <a:ln>
            <a:solidFill>
              <a:srgbClr val="e8eff7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4" name="TextBox 10"/>
          <p:cNvSpPr/>
          <p:nvPr/>
        </p:nvSpPr>
        <p:spPr>
          <a:xfrm>
            <a:off x="8001000" y="4443840"/>
            <a:ext cx="2979360" cy="13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1800" spc="-1" strike="noStrike">
                <a:solidFill>
                  <a:srgbClr val="242834"/>
                </a:solidFill>
                <a:latin typeface="Arial"/>
                <a:ea typeface="DejaVu Sans"/>
              </a:rPr>
              <a:t>Итог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ru-RU" sz="1300" spc="-1" strike="noStrike">
                <a:solidFill>
                  <a:srgbClr val="242834"/>
                </a:solidFill>
                <a:latin typeface="Arial"/>
                <a:ea typeface="DejaVu Sans"/>
              </a:rPr>
              <a:t>Чем выше расходы и чаще сравнение цен, тем выше готовность рекомендовать.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ru-RU" sz="1300" spc="-1" strike="noStrike">
                <a:solidFill>
                  <a:srgbClr val="242834"/>
                </a:solidFill>
                <a:latin typeface="Arial"/>
                <a:ea typeface="DejaVu Sans"/>
              </a:rPr>
              <a:t>Высокая чувствительность к цене снижает лояльность.</a:t>
            </a:r>
            <a:endParaRPr b="0" lang="en-US" sz="1300" spc="-1" strike="noStrike">
              <a:latin typeface="Arial"/>
            </a:endParaRPr>
          </a:p>
        </p:txBody>
      </p:sp>
      <p:pic>
        <p:nvPicPr>
          <p:cNvPr id="145" name="Picture 11" descr="regression_coefficients_ci.png"/>
          <p:cNvPicPr/>
          <p:nvPr/>
        </p:nvPicPr>
        <p:blipFill>
          <a:blip r:embed="rId1"/>
          <a:stretch/>
        </p:blipFill>
        <p:spPr>
          <a:xfrm>
            <a:off x="658440" y="1270440"/>
            <a:ext cx="7268760" cy="45363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1"/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7" name="Rectangle 2"/>
          <p:cNvSpPr/>
          <p:nvPr/>
        </p:nvSpPr>
        <p:spPr>
          <a:xfrm>
            <a:off x="0" y="0"/>
            <a:ext cx="12191400" cy="109080"/>
          </a:xfrm>
          <a:prstGeom prst="rect">
            <a:avLst/>
          </a:prstGeom>
          <a:solidFill>
            <a:srgbClr val="0e386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8" name="TextBox 3"/>
          <p:cNvSpPr/>
          <p:nvPr/>
        </p:nvSpPr>
        <p:spPr>
          <a:xfrm>
            <a:off x="411480" y="210240"/>
            <a:ext cx="593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1200" spc="-1" strike="noStrike">
                <a:solidFill>
                  <a:srgbClr val="f28e2b"/>
                </a:solidFill>
                <a:latin typeface="Arial"/>
                <a:ea typeface="DejaVu Sans"/>
              </a:rPr>
              <a:t>10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49" name="TextBox 4"/>
          <p:cNvSpPr/>
          <p:nvPr/>
        </p:nvSpPr>
        <p:spPr>
          <a:xfrm>
            <a:off x="841320" y="182880"/>
            <a:ext cx="89604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2400" spc="-1" strike="noStrike">
                <a:solidFill>
                  <a:srgbClr val="0e3865"/>
                </a:solidFill>
                <a:latin typeface="Arial"/>
                <a:ea typeface="DejaVu Sans"/>
              </a:rPr>
              <a:t>Итоговые выводы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50" name="TextBox 5"/>
          <p:cNvSpPr/>
          <p:nvPr/>
        </p:nvSpPr>
        <p:spPr>
          <a:xfrm>
            <a:off x="859680" y="576000"/>
            <a:ext cx="1014912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ru-RU" sz="1160" spc="-1" strike="noStrike">
                <a:solidFill>
                  <a:srgbClr val="606b7b"/>
                </a:solidFill>
                <a:latin typeface="Arial"/>
                <a:ea typeface="DejaVu Sans"/>
              </a:rPr>
              <a:t>Краткое резюме всей работы в трёх содержательных тезисах</a:t>
            </a:r>
            <a:endParaRPr b="0" lang="en-US" sz="1160" spc="-1" strike="noStrike">
              <a:latin typeface="Arial"/>
            </a:endParaRPr>
          </a:p>
        </p:txBody>
      </p:sp>
      <p:sp>
        <p:nvSpPr>
          <p:cNvPr id="151" name="Rounded Rectangle 6"/>
          <p:cNvSpPr/>
          <p:nvPr/>
        </p:nvSpPr>
        <p:spPr>
          <a:xfrm>
            <a:off x="822960" y="1234440"/>
            <a:ext cx="3153960" cy="1873800"/>
          </a:xfrm>
          <a:prstGeom prst="roundRect">
            <a:avLst>
              <a:gd name="adj" fmla="val 16667"/>
            </a:avLst>
          </a:prstGeom>
          <a:solidFill>
            <a:srgbClr val="f4f7fb"/>
          </a:solidFill>
          <a:ln>
            <a:solidFill>
              <a:srgbClr val="e8eff7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2" name="TextBox 7"/>
          <p:cNvSpPr/>
          <p:nvPr/>
        </p:nvSpPr>
        <p:spPr>
          <a:xfrm>
            <a:off x="951120" y="1344240"/>
            <a:ext cx="2898000" cy="145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1380" spc="-1" strike="noStrike">
                <a:solidFill>
                  <a:srgbClr val="0e3865"/>
                </a:solidFill>
                <a:latin typeface="Arial"/>
                <a:ea typeface="DejaVu Sans"/>
              </a:rPr>
              <a:t>1. Кто выглядит сильнее</a:t>
            </a:r>
            <a:endParaRPr b="0" lang="en-US" sz="138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r>
              <a:rPr b="0" lang="ru-RU" sz="1210" spc="-1" strike="noStrike">
                <a:solidFill>
                  <a:srgbClr val="1f2937"/>
                </a:solidFill>
                <a:latin typeface="Arial"/>
                <a:ea typeface="DejaVu Sans"/>
              </a:rPr>
              <a:t>Самокат — лидер по интегральной оценке и среднему рангу; Яндекс Еда выделяется по качеству и как наиболее привычный сервис; Ozon Fresh лучше воспринимается по цене.</a:t>
            </a:r>
            <a:endParaRPr b="0" lang="en-US" sz="1210" spc="-1" strike="noStrike">
              <a:latin typeface="Arial"/>
            </a:endParaRPr>
          </a:p>
        </p:txBody>
      </p:sp>
      <p:sp>
        <p:nvSpPr>
          <p:cNvPr id="153" name="Rounded Rectangle 8"/>
          <p:cNvSpPr/>
          <p:nvPr/>
        </p:nvSpPr>
        <p:spPr>
          <a:xfrm>
            <a:off x="4206240" y="1234440"/>
            <a:ext cx="3153960" cy="1873800"/>
          </a:xfrm>
          <a:prstGeom prst="roundRect">
            <a:avLst>
              <a:gd name="adj" fmla="val 16667"/>
            </a:avLst>
          </a:prstGeom>
          <a:solidFill>
            <a:srgbClr val="f9fafc"/>
          </a:solidFill>
          <a:ln>
            <a:solidFill>
              <a:srgbClr val="e8eff7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4" name="TextBox 9"/>
          <p:cNvSpPr/>
          <p:nvPr/>
        </p:nvSpPr>
        <p:spPr>
          <a:xfrm>
            <a:off x="4334400" y="1344240"/>
            <a:ext cx="2898000" cy="12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1380" spc="-1" strike="noStrike">
                <a:solidFill>
                  <a:srgbClr val="0e3865"/>
                </a:solidFill>
                <a:latin typeface="Arial"/>
                <a:ea typeface="DejaVu Sans"/>
              </a:rPr>
              <a:t>2. Почему оценки расходятся</a:t>
            </a:r>
            <a:endParaRPr b="0" lang="en-US" sz="138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r>
              <a:rPr b="0" lang="ru-RU" sz="1210" spc="-1" strike="noStrike">
                <a:solidFill>
                  <a:srgbClr val="1f2937"/>
                </a:solidFill>
                <a:latin typeface="Arial"/>
                <a:ea typeface="DejaVu Sans"/>
              </a:rPr>
              <a:t>Сервисы сильны в разных сценариях, а сами респонденты отличаются по уровню вовлечённости, бюджету и критериям выбора.</a:t>
            </a:r>
            <a:endParaRPr b="0" lang="en-US" sz="1210" spc="-1" strike="noStrike">
              <a:latin typeface="Arial"/>
            </a:endParaRPr>
          </a:p>
        </p:txBody>
      </p:sp>
      <p:sp>
        <p:nvSpPr>
          <p:cNvPr id="155" name="Rounded Rectangle 10"/>
          <p:cNvSpPr/>
          <p:nvPr/>
        </p:nvSpPr>
        <p:spPr>
          <a:xfrm>
            <a:off x="7589520" y="1234440"/>
            <a:ext cx="3153960" cy="1873800"/>
          </a:xfrm>
          <a:prstGeom prst="roundRect">
            <a:avLst>
              <a:gd name="adj" fmla="val 16667"/>
            </a:avLst>
          </a:prstGeom>
          <a:solidFill>
            <a:srgbClr val="f4f7fb"/>
          </a:solidFill>
          <a:ln>
            <a:solidFill>
              <a:srgbClr val="e8eff7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6" name="TextBox 11"/>
          <p:cNvSpPr/>
          <p:nvPr/>
        </p:nvSpPr>
        <p:spPr>
          <a:xfrm>
            <a:off x="7717680" y="1344240"/>
            <a:ext cx="2898000" cy="108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1380" spc="-1" strike="noStrike">
                <a:solidFill>
                  <a:srgbClr val="0e3865"/>
                </a:solidFill>
                <a:latin typeface="Arial"/>
                <a:ea typeface="DejaVu Sans"/>
              </a:rPr>
              <a:t>3. Что показала модель</a:t>
            </a:r>
            <a:endParaRPr b="0" lang="en-US" sz="138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r>
              <a:rPr b="0" lang="ru-RU" sz="1210" spc="-1" strike="noStrike">
                <a:solidFill>
                  <a:srgbClr val="1f2937"/>
                </a:solidFill>
                <a:latin typeface="Arial"/>
                <a:ea typeface="DejaVu Sans"/>
              </a:rPr>
              <a:t>Готовность рекомендовать сервис определяется не только общей оценкой, но и экономическим поведением пользователя.</a:t>
            </a:r>
            <a:endParaRPr b="0" lang="en-US" sz="1210" spc="-1" strike="noStrike">
              <a:latin typeface="Arial"/>
            </a:endParaRPr>
          </a:p>
        </p:txBody>
      </p:sp>
      <p:sp>
        <p:nvSpPr>
          <p:cNvPr id="157" name="TextBox 12"/>
          <p:cNvSpPr/>
          <p:nvPr/>
        </p:nvSpPr>
        <p:spPr>
          <a:xfrm>
            <a:off x="1005840" y="3794760"/>
            <a:ext cx="98290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ru-RU" sz="2000" spc="-1" strike="noStrike">
                <a:solidFill>
                  <a:srgbClr val="0e3865"/>
                </a:solidFill>
                <a:latin typeface="Arial"/>
                <a:ea typeface="DejaVu Sans"/>
              </a:rPr>
              <a:t>Общий вывод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58" name="TextBox 13"/>
          <p:cNvSpPr/>
          <p:nvPr/>
        </p:nvSpPr>
        <p:spPr>
          <a:xfrm>
            <a:off x="1005840" y="4224600"/>
            <a:ext cx="9829080" cy="80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ru-RU" sz="1560" spc="-1" strike="noStrike">
                <a:solidFill>
                  <a:srgbClr val="1f2937"/>
                </a:solidFill>
                <a:latin typeface="Arial"/>
                <a:ea typeface="DejaVu Sans"/>
              </a:rPr>
              <a:t>Для студентов «лучший» сервис — не универсальный лидер, а сервис, который лучше решает конкретную задачу: быстро доставить, дать выгодное предложение или обеспечить привычный и надёжный пользовательский опыт.</a:t>
            </a:r>
            <a:endParaRPr b="0" lang="en-US" sz="1560" spc="-1" strike="noStrike">
              <a:latin typeface="Arial"/>
            </a:endParaRPr>
          </a:p>
        </p:txBody>
      </p:sp>
      <p:sp>
        <p:nvSpPr>
          <p:cNvPr id="159" name="Rectangle 14"/>
          <p:cNvSpPr/>
          <p:nvPr/>
        </p:nvSpPr>
        <p:spPr>
          <a:xfrm>
            <a:off x="1417320" y="5394960"/>
            <a:ext cx="9006120" cy="17640"/>
          </a:xfrm>
          <a:prstGeom prst="rect">
            <a:avLst/>
          </a:prstGeom>
          <a:solidFill>
            <a:srgbClr val="e8eff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0" name="TextBox 15"/>
          <p:cNvSpPr/>
          <p:nvPr/>
        </p:nvSpPr>
        <p:spPr>
          <a:xfrm>
            <a:off x="1005840" y="5532120"/>
            <a:ext cx="98290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ru-RU" sz="2000" spc="-1" strike="noStrike">
                <a:solidFill>
                  <a:srgbClr val="f28e2b"/>
                </a:solidFill>
                <a:latin typeface="Arial"/>
                <a:ea typeface="DejaVu Sans"/>
              </a:rPr>
              <a:t>Спасибо за внимание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2c5f"/>
      </a:dk2>
      <a:lt2>
        <a:srgbClr val="ffffff"/>
      </a:lt2>
      <a:accent1>
        <a:srgbClr val="005aaa"/>
      </a:accent1>
      <a:accent2>
        <a:srgbClr val="e70f47"/>
      </a:accent2>
      <a:accent3>
        <a:srgbClr val="00bef3"/>
      </a:accent3>
      <a:accent4>
        <a:srgbClr val="9269c9"/>
      </a:accent4>
      <a:accent5>
        <a:srgbClr val="ff6418"/>
      </a:accent5>
      <a:accent6>
        <a:srgbClr val="009a49"/>
      </a:accent6>
      <a:hlink>
        <a:srgbClr val="4e41cc"/>
      </a:hlink>
      <a:folHlink>
        <a:srgbClr val="d65d86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ГУАП презентация курса - шаблон</Template>
  <TotalTime>4</TotalTime>
  <Application>LibreOffice/7.3.7.2$Linux_X86_64 LibreOffice_project/30$Build-2</Application>
  <AppVersion>15.0000</AppVersion>
  <Words>1643</Words>
  <Paragraphs>176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2023-06-16T08:15:39Z</dcterms:created>
  <dc:creator>Алексей Малышев</dc:creator>
  <dc:description/>
  <dc:language>en-US</dc:language>
  <cp:lastModifiedBy/>
  <dcterms:modified xsi:type="dcterms:W3CDTF">2026-05-21T17:16:25Z</dcterms:modified>
  <cp:revision>6</cp:revision>
  <dc:subject/>
  <dc:title>Фирменный стиль  презентаций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7</vt:i4>
  </property>
  <property fmtid="{D5CDD505-2E9C-101B-9397-08002B2CF9AE}" pid="3" name="PresentationFormat">
    <vt:lpwstr>Широкоэкранный</vt:lpwstr>
  </property>
  <property fmtid="{D5CDD505-2E9C-101B-9397-08002B2CF9AE}" pid="4" name="Slides">
    <vt:i4>29</vt:i4>
  </property>
</Properties>
</file>